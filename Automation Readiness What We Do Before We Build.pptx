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embeddedFontLst>
    <p:embeddedFont>
      <p:font typeface="Inter" panose="02000503000000020004" pitchFamily="34" charset="0"/>
      <p:regular r:id="rId20"/>
      <p:bold r:id="rId21"/>
    </p:embeddedFont>
    <p:embeddedFont>
      <p:font typeface="Space Grotesk" pitchFamily="34" charset="0"/>
      <p:regular r:id="rId22"/>
      <p:bold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 Id="rId22" Type="http://schemas.openxmlformats.org/officeDocument/2006/relationships/font" Target="fonts/font3.fntdata"/><Relationship Id="rId23"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25760"/>
          </a:xfrm>
          <a:prstGeom prst="rect">
            <a:avLst/>
          </a:prstGeom>
          <a:noFill/>
          <a:ln/>
        </p:spPr>
        <p:txBody>
          <a:bodyPr wrap="square" lIns="0" tIns="0" rIns="0" bIns="0" rtlCol="0" anchor="t"/>
          <a:lstStyle>
            <a:lvl1pPr algn="l" indent="0" marL="0">
              <a:lnSpc>
                <a:spcPct val="115000"/>
              </a:lnSpc>
              <a:buNone/>
              <a:defRPr lang="en-US" sz="3600" dirty="0">
                <a:solidFill>
                  <a:srgbClr val="0F2238"/>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43360"/>
            <a:ext cx="10566400" cy="4401840"/>
          </a:xfrm>
          <a:prstGeom prst="rect">
            <a:avLst/>
          </a:prstGeom>
          <a:noFill/>
          <a:ln/>
        </p:spPr>
        <p:txBody>
          <a:bodyPr wrap="square" lIns="0" tIns="0" rIns="0" bIns="0" rtlCol="0" anchor="t"/>
          <a:lstStyle>
            <a:lvl1pPr algn="l" indent="0" marL="0">
              <a:lnSpc>
                <a:spcPct val="140000"/>
              </a:lnSpc>
              <a:buNone/>
              <a:defRPr lang="en-US" sz="1600" dirty="0">
                <a:solidFill>
                  <a:srgbClr val="16212C"/>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25760"/>
          </a:xfrm>
          <a:prstGeom prst="rect">
            <a:avLst/>
          </a:prstGeom>
          <a:noFill/>
          <a:ln/>
        </p:spPr>
        <p:txBody>
          <a:bodyPr wrap="square" lIns="0" tIns="0" rIns="0" bIns="0" rtlCol="0" anchor="t"/>
          <a:lstStyle>
            <a:lvl1pPr algn="l" indent="0" marL="0">
              <a:lnSpc>
                <a:spcPct val="115000"/>
              </a:lnSpc>
              <a:buNone/>
              <a:defRPr lang="en-US" sz="3600" dirty="0">
                <a:solidFill>
                  <a:srgbClr val="0F2238"/>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43360"/>
            <a:ext cx="10566400" cy="4401840"/>
          </a:xfrm>
          <a:prstGeom prst="rect">
            <a:avLst/>
          </a:prstGeom>
          <a:noFill/>
          <a:ln/>
        </p:spPr>
        <p:txBody>
          <a:bodyPr wrap="square" lIns="0" tIns="0" rIns="0" bIns="0" rtlCol="0" anchor="t"/>
          <a:lstStyle>
            <a:lvl1pPr algn="l" indent="0" marL="0">
              <a:lnSpc>
                <a:spcPct val="140000"/>
              </a:lnSpc>
              <a:buNone/>
              <a:defRPr lang="en-US" sz="1600" dirty="0">
                <a:solidFill>
                  <a:srgbClr val="16212C"/>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238"/>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FD9CC"/>
                </a:solidFill>
                <a:latin typeface="Space Grotesk" pitchFamily="34" charset="0"/>
                <a:ea typeface="Space Grotesk" pitchFamily="34" charset="-122"/>
                <a:cs typeface="Space Grotesk" pitchFamily="34" charset="-120"/>
              </a:rPr>
              <a:t>UAT COE</a:t>
            </a:r>
            <a:endParaRPr lang="en-US" sz="1400" dirty="0"/>
          </a:p>
        </p:txBody>
      </p:sp>
      <p:sp>
        <p:nvSpPr>
          <p:cNvPr id="3" name="Text 1"/>
          <p:cNvSpPr/>
          <p:nvPr>
            <p:ph type="title"/>
          </p:nvPr>
        </p:nvSpPr>
        <p:spPr>
          <a:xfrm>
            <a:off x="812800" y="2308870"/>
            <a:ext cx="10883392" cy="1422400"/>
          </a:xfrm>
          <a:prstGeom prst="rect">
            <a:avLst/>
          </a:prstGeom>
          <a:noFill/>
          <a:ln/>
        </p:spPr>
        <p:txBody>
          <a:bodyPr wrap="square" lIns="0" tIns="0" rIns="0" bIns="0" rtlCol="0" anchor="t">
            <a:normAutofit/>
          </a:bodyPr>
          <a:lstStyle/>
          <a:p>
            <a:pPr algn="l" indent="0" marL="0">
              <a:lnSpc>
                <a:spcPts val="5500"/>
              </a:lnSpc>
              <a:buNone/>
            </a:pPr>
            <a:r>
              <a:rPr lang="en-US" sz="5000" b="1" i="0" dirty="0">
                <a:solidFill>
                  <a:srgbClr val="FBFBF9"/>
                </a:solidFill>
                <a:latin typeface="Space Grotesk" pitchFamily="34" charset="0"/>
                <a:ea typeface="Space Grotesk" pitchFamily="34" charset="-122"/>
                <a:cs typeface="Space Grotesk" pitchFamily="34" charset="-120"/>
              </a:rPr>
              <a:t>Automation Readiness: What We Do Before We Build</a:t>
            </a:r>
            <a:endParaRPr lang="en-US" sz="5000" dirty="0"/>
          </a:p>
        </p:txBody>
      </p:sp>
      <p:sp>
        <p:nvSpPr>
          <p:cNvPr id="4" name="Text 2"/>
          <p:cNvSpPr/>
          <p:nvPr/>
        </p:nvSpPr>
        <p:spPr>
          <a:xfrm>
            <a:off x="812800" y="3909070"/>
            <a:ext cx="837184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7C2CC"/>
                </a:solidFill>
                <a:latin typeface="Inter" pitchFamily="34" charset="0"/>
                <a:ea typeface="Inter" pitchFamily="34" charset="-122"/>
                <a:cs typeface="Inter" pitchFamily="34" charset="-120"/>
              </a:rPr>
              <a:t>A readiness framework for bringing new applications into automation — what we check before a single script gets written.</a:t>
            </a:r>
            <a:endParaRPr lang="en-US" sz="1800" dirty="0"/>
          </a:p>
        </p:txBody>
      </p:sp>
      <p:sp>
        <p:nvSpPr>
          <p:cNvPr id="5" name="Text 3"/>
          <p:cNvSpPr/>
          <p:nvPr/>
        </p:nvSpPr>
        <p:spPr>
          <a:xfrm>
            <a:off x="812800" y="5796310"/>
            <a:ext cx="382726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FD9CC"/>
                </a:solidFill>
                <a:latin typeface="Inter" pitchFamily="34" charset="0"/>
                <a:ea typeface="Inter" pitchFamily="34" charset="-122"/>
                <a:cs typeface="Inter" pitchFamily="34" charset="-120"/>
              </a:rPr>
              <a:t>Automation Testing Readiness Review</a:t>
            </a:r>
            <a:endParaRPr lang="en-US" sz="1400" dirty="0"/>
          </a:p>
        </p:txBody>
      </p:sp>
      <p:sp>
        <p:nvSpPr>
          <p:cNvPr id="6" name="Text 4"/>
          <p:cNvSpPr/>
          <p:nvPr/>
        </p:nvSpPr>
        <p:spPr>
          <a:xfrm>
            <a:off x="9975989" y="5796310"/>
            <a:ext cx="1403211" cy="27429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8FD9CC"/>
                </a:solidFill>
                <a:latin typeface="Inter" pitchFamily="34" charset="0"/>
                <a:ea typeface="Inter" pitchFamily="34" charset="-122"/>
                <a:cs typeface="Inter" pitchFamily="34" charset="-120"/>
              </a:rPr>
              <a:t>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0F2238"/>
                </a:solidFill>
                <a:latin typeface="Space Grotesk" pitchFamily="34" charset="0"/>
                <a:ea typeface="Space Grotesk" pitchFamily="34" charset="-122"/>
                <a:cs typeface="Space Grotesk" pitchFamily="34" charset="-120"/>
              </a:rPr>
              <a:t>Who We Are</a:t>
            </a:r>
            <a:endParaRPr lang="en-US" sz="3600" dirty="0"/>
          </a:p>
        </p:txBody>
      </p:sp>
      <p:sp>
        <p:nvSpPr>
          <p:cNvPr id="3" name="Text 1"/>
          <p:cNvSpPr/>
          <p:nvPr/>
        </p:nvSpPr>
        <p:spPr>
          <a:xfrm>
            <a:off x="812800" y="1643360"/>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6B78"/>
                </a:solidFill>
                <a:latin typeface="Inter" pitchFamily="34" charset="0"/>
                <a:ea typeface="Inter" pitchFamily="34" charset="-122"/>
                <a:cs typeface="Inter" pitchFamily="34" charset="-120"/>
              </a:rPr>
              <a:t>UAT CoE builds and runs the test automation tooling, QA infrastructure, and team enablement that support quality across multiple Lines of Business.</a:t>
            </a:r>
            <a:endParaRPr lang="en-US" sz="1600" dirty="0"/>
          </a:p>
        </p:txBody>
      </p:sp>
      <p:sp>
        <p:nvSpPr>
          <p:cNvPr id="4" name="Shape 2"/>
          <p:cNvSpPr/>
          <p:nvPr/>
        </p:nvSpPr>
        <p:spPr>
          <a:xfrm>
            <a:off x="815975" y="2520255"/>
            <a:ext cx="1984970" cy="3318570"/>
          </a:xfrm>
          <a:prstGeom prst="roundRect">
            <a:avLst>
              <a:gd name="adj" fmla="val 4959"/>
            </a:avLst>
          </a:prstGeom>
          <a:solidFill>
            <a:srgbClr val="FFFFFF"/>
          </a:solidFill>
          <a:ln w="6350">
            <a:solidFill>
              <a:srgbClr val="E2E6E9"/>
            </a:solidFill>
            <a:prstDash val="solid"/>
          </a:ln>
        </p:spPr>
      </p:sp>
      <p:sp>
        <p:nvSpPr>
          <p:cNvPr id="5" name="Text 3"/>
          <p:cNvSpPr/>
          <p:nvPr/>
        </p:nvSpPr>
        <p:spPr>
          <a:xfrm>
            <a:off x="980504" y="3912840"/>
            <a:ext cx="1655862"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LINE OF BUSINESS</a:t>
            </a:r>
            <a:endParaRPr lang="en-US" sz="1200" dirty="0"/>
          </a:p>
        </p:txBody>
      </p:sp>
      <p:sp>
        <p:nvSpPr>
          <p:cNvPr id="6" name="Text 4"/>
          <p:cNvSpPr/>
          <p:nvPr/>
        </p:nvSpPr>
        <p:spPr>
          <a:xfrm>
            <a:off x="1537891" y="4202361"/>
            <a:ext cx="541139" cy="26923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0F2238"/>
                </a:solidFill>
                <a:latin typeface="Inter" pitchFamily="34" charset="0"/>
                <a:ea typeface="Inter" pitchFamily="34" charset="-122"/>
                <a:cs typeface="Inter" pitchFamily="34" charset="-120"/>
              </a:rPr>
              <a:t>WIM</a:t>
            </a:r>
            <a:endParaRPr lang="en-US" sz="1600" dirty="0"/>
          </a:p>
        </p:txBody>
      </p:sp>
      <p:sp>
        <p:nvSpPr>
          <p:cNvPr id="7" name="Shape 5"/>
          <p:cNvSpPr/>
          <p:nvPr/>
        </p:nvSpPr>
        <p:spPr>
          <a:xfrm>
            <a:off x="2959695" y="2520255"/>
            <a:ext cx="1985020" cy="3318570"/>
          </a:xfrm>
          <a:prstGeom prst="roundRect">
            <a:avLst>
              <a:gd name="adj" fmla="val 4958"/>
            </a:avLst>
          </a:prstGeom>
          <a:solidFill>
            <a:srgbClr val="FFFFFF"/>
          </a:solidFill>
          <a:ln w="6350">
            <a:solidFill>
              <a:srgbClr val="E2E6E9"/>
            </a:solidFill>
            <a:prstDash val="solid"/>
          </a:ln>
        </p:spPr>
      </p:sp>
      <p:sp>
        <p:nvSpPr>
          <p:cNvPr id="8" name="Text 6"/>
          <p:cNvSpPr/>
          <p:nvPr/>
        </p:nvSpPr>
        <p:spPr>
          <a:xfrm>
            <a:off x="3124274" y="3912840"/>
            <a:ext cx="1655862"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LINE OF BUSINESS</a:t>
            </a:r>
            <a:endParaRPr lang="en-US" sz="1200" dirty="0"/>
          </a:p>
        </p:txBody>
      </p:sp>
      <p:sp>
        <p:nvSpPr>
          <p:cNvPr id="9" name="Text 7"/>
          <p:cNvSpPr/>
          <p:nvPr/>
        </p:nvSpPr>
        <p:spPr>
          <a:xfrm>
            <a:off x="3622318" y="4202361"/>
            <a:ext cx="659725" cy="26923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0F2238"/>
                </a:solidFill>
                <a:latin typeface="Inter" pitchFamily="34" charset="0"/>
                <a:ea typeface="Inter" pitchFamily="34" charset="-122"/>
                <a:cs typeface="Inter" pitchFamily="34" charset="-120"/>
              </a:rPr>
              <a:t>CSBB</a:t>
            </a:r>
            <a:endParaRPr lang="en-US" sz="1600" dirty="0"/>
          </a:p>
        </p:txBody>
      </p:sp>
      <p:sp>
        <p:nvSpPr>
          <p:cNvPr id="10" name="Shape 8"/>
          <p:cNvSpPr/>
          <p:nvPr/>
        </p:nvSpPr>
        <p:spPr>
          <a:xfrm>
            <a:off x="5103465" y="2520255"/>
            <a:ext cx="1985020" cy="3318570"/>
          </a:xfrm>
          <a:prstGeom prst="roundRect">
            <a:avLst>
              <a:gd name="adj" fmla="val 4958"/>
            </a:avLst>
          </a:prstGeom>
          <a:solidFill>
            <a:srgbClr val="FFFFFF"/>
          </a:solidFill>
          <a:ln w="6350">
            <a:solidFill>
              <a:srgbClr val="E2E6E9"/>
            </a:solidFill>
            <a:prstDash val="solid"/>
          </a:ln>
        </p:spPr>
      </p:sp>
      <p:sp>
        <p:nvSpPr>
          <p:cNvPr id="11" name="Text 9"/>
          <p:cNvSpPr/>
          <p:nvPr/>
        </p:nvSpPr>
        <p:spPr>
          <a:xfrm>
            <a:off x="5268044" y="3790950"/>
            <a:ext cx="1655862"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LINE OF BUSINESS</a:t>
            </a:r>
            <a:endParaRPr lang="en-US" sz="1200" dirty="0"/>
          </a:p>
        </p:txBody>
      </p:sp>
      <p:sp>
        <p:nvSpPr>
          <p:cNvPr id="12" name="Text 10"/>
          <p:cNvSpPr/>
          <p:nvPr/>
        </p:nvSpPr>
        <p:spPr>
          <a:xfrm>
            <a:off x="5360640" y="4080470"/>
            <a:ext cx="1521470" cy="51306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238"/>
                </a:solidFill>
                <a:latin typeface="Inter" pitchFamily="34" charset="0"/>
                <a:ea typeface="Inter" pitchFamily="34" charset="-122"/>
                <a:cs typeface="Inter" pitchFamily="34" charset="-120"/>
              </a:rPr>
              <a:t>Credit Solutions</a:t>
            </a:r>
            <a:endParaRPr lang="en-US" sz="1600" dirty="0"/>
          </a:p>
        </p:txBody>
      </p:sp>
      <p:sp>
        <p:nvSpPr>
          <p:cNvPr id="13" name="Shape 11"/>
          <p:cNvSpPr/>
          <p:nvPr/>
        </p:nvSpPr>
        <p:spPr>
          <a:xfrm>
            <a:off x="7247235" y="2520255"/>
            <a:ext cx="1985020" cy="3318570"/>
          </a:xfrm>
          <a:prstGeom prst="roundRect">
            <a:avLst>
              <a:gd name="adj" fmla="val 4958"/>
            </a:avLst>
          </a:prstGeom>
          <a:solidFill>
            <a:srgbClr val="FFFFFF"/>
          </a:solidFill>
          <a:ln w="6350">
            <a:solidFill>
              <a:srgbClr val="E2E6E9"/>
            </a:solidFill>
            <a:prstDash val="solid"/>
          </a:ln>
        </p:spPr>
      </p:sp>
      <p:sp>
        <p:nvSpPr>
          <p:cNvPr id="14" name="Text 12"/>
          <p:cNvSpPr/>
          <p:nvPr/>
        </p:nvSpPr>
        <p:spPr>
          <a:xfrm>
            <a:off x="7411814" y="3912840"/>
            <a:ext cx="1655862"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LINE OF BUSINESS</a:t>
            </a:r>
            <a:endParaRPr lang="en-US" sz="1200" dirty="0"/>
          </a:p>
        </p:txBody>
      </p:sp>
      <p:sp>
        <p:nvSpPr>
          <p:cNvPr id="15" name="Text 13"/>
          <p:cNvSpPr/>
          <p:nvPr/>
        </p:nvSpPr>
        <p:spPr>
          <a:xfrm>
            <a:off x="7806090" y="4202361"/>
            <a:ext cx="867311" cy="26923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0F2238"/>
                </a:solidFill>
                <a:latin typeface="Inter" pitchFamily="34" charset="0"/>
                <a:ea typeface="Inter" pitchFamily="34" charset="-122"/>
                <a:cs typeface="Inter" pitchFamily="34" charset="-120"/>
              </a:rPr>
              <a:t>IPO LIQ</a:t>
            </a:r>
            <a:endParaRPr lang="en-US" sz="1600" dirty="0"/>
          </a:p>
        </p:txBody>
      </p:sp>
      <p:sp>
        <p:nvSpPr>
          <p:cNvPr id="16" name="Shape 14"/>
          <p:cNvSpPr/>
          <p:nvPr/>
        </p:nvSpPr>
        <p:spPr>
          <a:xfrm>
            <a:off x="9391005" y="2520255"/>
            <a:ext cx="1985020" cy="3318570"/>
          </a:xfrm>
          <a:prstGeom prst="roundRect">
            <a:avLst>
              <a:gd name="adj" fmla="val 4958"/>
            </a:avLst>
          </a:prstGeom>
          <a:solidFill>
            <a:srgbClr val="FFFFFF"/>
          </a:solidFill>
          <a:ln w="6350">
            <a:solidFill>
              <a:srgbClr val="E2E6E9"/>
            </a:solidFill>
            <a:prstDash val="solid"/>
          </a:ln>
        </p:spPr>
      </p:sp>
      <p:sp>
        <p:nvSpPr>
          <p:cNvPr id="17" name="Text 15"/>
          <p:cNvSpPr/>
          <p:nvPr/>
        </p:nvSpPr>
        <p:spPr>
          <a:xfrm>
            <a:off x="9555584" y="3912840"/>
            <a:ext cx="1655862"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LINE OF BUSINESS</a:t>
            </a:r>
            <a:endParaRPr lang="en-US" sz="1200" dirty="0"/>
          </a:p>
        </p:txBody>
      </p:sp>
      <p:sp>
        <p:nvSpPr>
          <p:cNvPr id="18" name="Text 16"/>
          <p:cNvSpPr/>
          <p:nvPr/>
        </p:nvSpPr>
        <p:spPr>
          <a:xfrm>
            <a:off x="9800620" y="4202361"/>
            <a:ext cx="1165741" cy="26923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0F2238"/>
                </a:solidFill>
                <a:latin typeface="Inter" pitchFamily="34" charset="0"/>
                <a:ea typeface="Inter" pitchFamily="34" charset="-122"/>
                <a:cs typeface="Inter" pitchFamily="34" charset="-120"/>
              </a:rPr>
              <a:t>Payments</a:t>
            </a:r>
            <a:endParaRPr lang="en-US" sz="1600" dirty="0"/>
          </a:p>
        </p:txBody>
      </p:sp>
      <p:sp>
        <p:nvSpPr>
          <p:cNvPr id="19" name="Text 17"/>
          <p:cNvSpPr/>
          <p:nvPr/>
        </p:nvSpPr>
        <p:spPr>
          <a:xfrm>
            <a:off x="812800" y="6238280"/>
            <a:ext cx="7658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C"/>
                </a:solidFill>
                <a:latin typeface="Inter" pitchFamily="34" charset="0"/>
                <a:ea typeface="Inter" pitchFamily="34" charset="-122"/>
                <a:cs typeface="Inter" pitchFamily="34" charset="-120"/>
              </a:rPr>
              <a:t>UAT CoE</a:t>
            </a:r>
            <a:endParaRPr lang="en-US" sz="1200" dirty="0"/>
          </a:p>
        </p:txBody>
      </p:sp>
      <p:sp>
        <p:nvSpPr>
          <p:cNvPr id="20" name="Text 18"/>
          <p:cNvSpPr/>
          <p:nvPr/>
        </p:nvSpPr>
        <p:spPr>
          <a:xfrm>
            <a:off x="11286232" y="6238280"/>
            <a:ext cx="1437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C"/>
                </a:solidFill>
                <a:latin typeface="Inter" pitchFamily="34" charset="0"/>
                <a:ea typeface="Inter" pitchFamily="34" charset="-122"/>
                <a:cs typeface="Inte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0F2238"/>
                </a:solidFill>
                <a:latin typeface="Space Grotesk" pitchFamily="34" charset="0"/>
                <a:ea typeface="Space Grotesk" pitchFamily="34" charset="-122"/>
                <a:cs typeface="Space Grotesk" pitchFamily="34" charset="-120"/>
              </a:rPr>
              <a:t>What We Already Automate</a:t>
            </a:r>
            <a:endParaRPr lang="en-US" sz="3600" dirty="0"/>
          </a:p>
        </p:txBody>
      </p:sp>
      <p:sp>
        <p:nvSpPr>
          <p:cNvPr id="3" name="Text 1"/>
          <p:cNvSpPr/>
          <p:nvPr/>
        </p:nvSpPr>
        <p:spPr>
          <a:xfrm>
            <a:off x="812800" y="159256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C6B78"/>
                </a:solidFill>
                <a:latin typeface="Inter" pitchFamily="34" charset="0"/>
                <a:ea typeface="Inter" pitchFamily="34" charset="-122"/>
                <a:cs typeface="Inter" pitchFamily="34" charset="-120"/>
              </a:rPr>
              <a:t>Four automation disciplines, purpose-built tooling for each</a:t>
            </a:r>
            <a:endParaRPr lang="en-US" sz="1400" dirty="0"/>
          </a:p>
        </p:txBody>
      </p:sp>
      <p:sp>
        <p:nvSpPr>
          <p:cNvPr id="4" name="Shape 2"/>
          <p:cNvSpPr/>
          <p:nvPr/>
        </p:nvSpPr>
        <p:spPr>
          <a:xfrm>
            <a:off x="815975" y="2098625"/>
            <a:ext cx="5200650" cy="1790700"/>
          </a:xfrm>
          <a:prstGeom prst="roundRect">
            <a:avLst>
              <a:gd name="adj" fmla="val 5496"/>
            </a:avLst>
          </a:prstGeom>
          <a:solidFill>
            <a:srgbClr val="FFFFFF"/>
          </a:solidFill>
          <a:ln w="6350">
            <a:solidFill>
              <a:srgbClr val="E2E6E9"/>
            </a:solidFill>
            <a:prstDash val="solid"/>
          </a:ln>
        </p:spPr>
      </p:sp>
      <p:sp>
        <p:nvSpPr>
          <p:cNvPr id="5" name="Text 3"/>
          <p:cNvSpPr/>
          <p:nvPr/>
        </p:nvSpPr>
        <p:spPr>
          <a:xfrm>
            <a:off x="1073150" y="2727275"/>
            <a:ext cx="482688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238"/>
                </a:solidFill>
                <a:latin typeface="Inter" pitchFamily="34" charset="0"/>
                <a:ea typeface="Inter" pitchFamily="34" charset="-122"/>
                <a:cs typeface="Inter" pitchFamily="34" charset="-120"/>
              </a:rPr>
              <a:t>Web Automation</a:t>
            </a:r>
            <a:endParaRPr lang="en-US" sz="1600" dirty="0"/>
          </a:p>
        </p:txBody>
      </p:sp>
      <p:sp>
        <p:nvSpPr>
          <p:cNvPr id="6" name="Text 4"/>
          <p:cNvSpPr/>
          <p:nvPr/>
        </p:nvSpPr>
        <p:spPr>
          <a:xfrm>
            <a:off x="1073150" y="3047305"/>
            <a:ext cx="48268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8"/>
                </a:solidFill>
                <a:latin typeface="Inter" pitchFamily="34" charset="0"/>
                <a:ea typeface="Inter" pitchFamily="34" charset="-122"/>
                <a:cs typeface="Inter" pitchFamily="34" charset="-120"/>
              </a:rPr>
              <a:t>Selenium and Playwright, in Java and TypeScript</a:t>
            </a:r>
            <a:endParaRPr lang="en-US" sz="1200" dirty="0"/>
          </a:p>
        </p:txBody>
      </p:sp>
      <p:sp>
        <p:nvSpPr>
          <p:cNvPr id="7" name="Shape 5"/>
          <p:cNvSpPr/>
          <p:nvPr/>
        </p:nvSpPr>
        <p:spPr>
          <a:xfrm>
            <a:off x="6175375" y="2098625"/>
            <a:ext cx="5200650" cy="1790700"/>
          </a:xfrm>
          <a:prstGeom prst="roundRect">
            <a:avLst>
              <a:gd name="adj" fmla="val 5496"/>
            </a:avLst>
          </a:prstGeom>
          <a:solidFill>
            <a:srgbClr val="FFFFFF"/>
          </a:solidFill>
          <a:ln w="6350">
            <a:solidFill>
              <a:srgbClr val="E2E6E9"/>
            </a:solidFill>
            <a:prstDash val="solid"/>
          </a:ln>
        </p:spPr>
      </p:sp>
      <p:sp>
        <p:nvSpPr>
          <p:cNvPr id="8" name="Text 6"/>
          <p:cNvSpPr/>
          <p:nvPr/>
        </p:nvSpPr>
        <p:spPr>
          <a:xfrm>
            <a:off x="6432550" y="2727275"/>
            <a:ext cx="482688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238"/>
                </a:solidFill>
                <a:latin typeface="Inter" pitchFamily="34" charset="0"/>
                <a:ea typeface="Inter" pitchFamily="34" charset="-122"/>
                <a:cs typeface="Inter" pitchFamily="34" charset="-120"/>
              </a:rPr>
              <a:t>API Automation</a:t>
            </a:r>
            <a:endParaRPr lang="en-US" sz="1600" dirty="0"/>
          </a:p>
        </p:txBody>
      </p:sp>
      <p:sp>
        <p:nvSpPr>
          <p:cNvPr id="9" name="Text 7"/>
          <p:cNvSpPr/>
          <p:nvPr/>
        </p:nvSpPr>
        <p:spPr>
          <a:xfrm>
            <a:off x="6432550" y="3047305"/>
            <a:ext cx="48268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8"/>
                </a:solidFill>
                <a:latin typeface="Inter" pitchFamily="34" charset="0"/>
                <a:ea typeface="Inter" pitchFamily="34" charset="-122"/>
                <a:cs typeface="Inter" pitchFamily="34" charset="-120"/>
              </a:rPr>
              <a:t>REST Assured, validating services and integrations directly</a:t>
            </a:r>
            <a:endParaRPr lang="en-US" sz="1200" dirty="0"/>
          </a:p>
        </p:txBody>
      </p:sp>
      <p:sp>
        <p:nvSpPr>
          <p:cNvPr id="10" name="Shape 8"/>
          <p:cNvSpPr/>
          <p:nvPr/>
        </p:nvSpPr>
        <p:spPr>
          <a:xfrm>
            <a:off x="815975" y="4048075"/>
            <a:ext cx="5200650" cy="1790750"/>
          </a:xfrm>
          <a:prstGeom prst="roundRect">
            <a:avLst>
              <a:gd name="adj" fmla="val 5496"/>
            </a:avLst>
          </a:prstGeom>
          <a:solidFill>
            <a:srgbClr val="FFFFFF"/>
          </a:solidFill>
          <a:ln w="6350">
            <a:solidFill>
              <a:srgbClr val="E2E6E9"/>
            </a:solidFill>
            <a:prstDash val="solid"/>
          </a:ln>
        </p:spPr>
      </p:sp>
      <p:sp>
        <p:nvSpPr>
          <p:cNvPr id="11" name="Text 9"/>
          <p:cNvSpPr/>
          <p:nvPr/>
        </p:nvSpPr>
        <p:spPr>
          <a:xfrm>
            <a:off x="1073150" y="4676775"/>
            <a:ext cx="482688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238"/>
                </a:solidFill>
                <a:latin typeface="Inter" pitchFamily="34" charset="0"/>
                <a:ea typeface="Inter" pitchFamily="34" charset="-122"/>
                <a:cs typeface="Inter" pitchFamily="34" charset="-120"/>
              </a:rPr>
              <a:t>Desktop Automation (AG)</a:t>
            </a:r>
            <a:endParaRPr lang="en-US" sz="1600" dirty="0"/>
          </a:p>
        </p:txBody>
      </p:sp>
      <p:sp>
        <p:nvSpPr>
          <p:cNvPr id="12" name="Text 10"/>
          <p:cNvSpPr/>
          <p:nvPr/>
        </p:nvSpPr>
        <p:spPr>
          <a:xfrm>
            <a:off x="1073150" y="4996805"/>
            <a:ext cx="48268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8"/>
                </a:solidFill>
                <a:latin typeface="Inter" pitchFamily="34" charset="0"/>
                <a:ea typeface="Inter" pitchFamily="34" charset="-122"/>
                <a:cs typeface="Inter" pitchFamily="34" charset="-120"/>
              </a:rPr>
              <a:t>Automating thick-client desktop applications</a:t>
            </a:r>
            <a:endParaRPr lang="en-US" sz="1200" dirty="0"/>
          </a:p>
        </p:txBody>
      </p:sp>
      <p:sp>
        <p:nvSpPr>
          <p:cNvPr id="13" name="Shape 11"/>
          <p:cNvSpPr/>
          <p:nvPr/>
        </p:nvSpPr>
        <p:spPr>
          <a:xfrm>
            <a:off x="6175375" y="4048075"/>
            <a:ext cx="5200650" cy="1790750"/>
          </a:xfrm>
          <a:prstGeom prst="roundRect">
            <a:avLst>
              <a:gd name="adj" fmla="val 5496"/>
            </a:avLst>
          </a:prstGeom>
          <a:solidFill>
            <a:srgbClr val="FFFFFF"/>
          </a:solidFill>
          <a:ln w="6350">
            <a:solidFill>
              <a:srgbClr val="E2E6E9"/>
            </a:solidFill>
            <a:prstDash val="solid"/>
          </a:ln>
        </p:spPr>
      </p:sp>
      <p:sp>
        <p:nvSpPr>
          <p:cNvPr id="14" name="Text 12"/>
          <p:cNvSpPr/>
          <p:nvPr/>
        </p:nvSpPr>
        <p:spPr>
          <a:xfrm>
            <a:off x="6432550" y="4570115"/>
            <a:ext cx="482688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238"/>
                </a:solidFill>
                <a:latin typeface="Inter" pitchFamily="34" charset="0"/>
                <a:ea typeface="Inter" pitchFamily="34" charset="-122"/>
                <a:cs typeface="Inter" pitchFamily="34" charset="-120"/>
              </a:rPr>
              <a:t>Mainframe Automation</a:t>
            </a:r>
            <a:endParaRPr lang="en-US" sz="1600" dirty="0"/>
          </a:p>
        </p:txBody>
      </p:sp>
      <p:sp>
        <p:nvSpPr>
          <p:cNvPr id="15" name="Text 13"/>
          <p:cNvSpPr/>
          <p:nvPr/>
        </p:nvSpPr>
        <p:spPr>
          <a:xfrm>
            <a:off x="6432550" y="4890145"/>
            <a:ext cx="48268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8"/>
                </a:solidFill>
                <a:latin typeface="Inter" pitchFamily="34" charset="0"/>
                <a:ea typeface="Inter" pitchFamily="34" charset="-122"/>
                <a:cs typeface="Inter" pitchFamily="34" charset="-120"/>
              </a:rPr>
              <a:t>BETA and Hogan applications, including screen-based workflows</a:t>
            </a:r>
            <a:endParaRPr lang="en-US" sz="1200" dirty="0"/>
          </a:p>
        </p:txBody>
      </p:sp>
      <p:sp>
        <p:nvSpPr>
          <p:cNvPr id="16" name="Text 14"/>
          <p:cNvSpPr/>
          <p:nvPr/>
        </p:nvSpPr>
        <p:spPr>
          <a:xfrm>
            <a:off x="812800" y="6238280"/>
            <a:ext cx="7658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C"/>
                </a:solidFill>
                <a:latin typeface="Inter" pitchFamily="34" charset="0"/>
                <a:ea typeface="Inter" pitchFamily="34" charset="-122"/>
                <a:cs typeface="Inter" pitchFamily="34" charset="-120"/>
              </a:rPr>
              <a:t>UAT CoE</a:t>
            </a:r>
            <a:endParaRPr lang="en-US" sz="1200" dirty="0"/>
          </a:p>
        </p:txBody>
      </p:sp>
      <p:sp>
        <p:nvSpPr>
          <p:cNvPr id="17" name="Text 15"/>
          <p:cNvSpPr/>
          <p:nvPr/>
        </p:nvSpPr>
        <p:spPr>
          <a:xfrm>
            <a:off x="11285041" y="6238280"/>
            <a:ext cx="1449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C"/>
                </a:solidFill>
                <a:latin typeface="Inter" pitchFamily="34" charset="0"/>
                <a:ea typeface="Inter" pitchFamily="34" charset="-122"/>
                <a:cs typeface="Inter"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3450"/>
        </a:solidFill>
      </p:bgPr>
    </p:bg>
    <p:spTree>
      <p:nvGrpSpPr>
        <p:cNvPr id="1" name=""/>
        <p:cNvGrpSpPr/>
        <p:nvPr/>
      </p:nvGrpSpPr>
      <p:grpSpPr>
        <a:xfrm>
          <a:off x="0" y="0"/>
          <a:ext cx="0" cy="0"/>
          <a:chOff x="0" y="0"/>
          <a:chExt cx="0" cy="0"/>
        </a:xfrm>
      </p:grpSpPr>
      <p:sp>
        <p:nvSpPr>
          <p:cNvPr id="2" name="Text 0"/>
          <p:cNvSpPr/>
          <p:nvPr/>
        </p:nvSpPr>
        <p:spPr>
          <a:xfrm>
            <a:off x="812800" y="1816100"/>
            <a:ext cx="212711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FD9CC"/>
                </a:solidFill>
                <a:latin typeface="Inter" pitchFamily="34" charset="0"/>
                <a:ea typeface="Inter" pitchFamily="34" charset="-122"/>
                <a:cs typeface="Inter" pitchFamily="34" charset="-120"/>
              </a:rPr>
              <a:t>THE TRIGGER POINT</a:t>
            </a:r>
            <a:endParaRPr lang="en-US" sz="1400" dirty="0"/>
          </a:p>
        </p:txBody>
      </p:sp>
      <p:sp>
        <p:nvSpPr>
          <p:cNvPr id="3" name="Text 1"/>
          <p:cNvSpPr/>
          <p:nvPr>
            <p:ph type="title"/>
          </p:nvPr>
        </p:nvSpPr>
        <p:spPr>
          <a:xfrm>
            <a:off x="812800" y="2318990"/>
            <a:ext cx="9810750" cy="1854200"/>
          </a:xfrm>
          <a:prstGeom prst="rect">
            <a:avLst/>
          </a:prstGeom>
          <a:noFill/>
          <a:ln/>
        </p:spPr>
        <p:txBody>
          <a:bodyPr wrap="square" lIns="0" tIns="0" rIns="0" bIns="0" rtlCol="0" anchor="t">
            <a:normAutofit/>
          </a:bodyPr>
          <a:lstStyle/>
          <a:p>
            <a:pPr algn="l" indent="0" marL="0">
              <a:lnSpc>
                <a:spcPts val="4800"/>
              </a:lnSpc>
              <a:buNone/>
            </a:pPr>
            <a:r>
              <a:rPr lang="en-US" sz="4000" b="1" i="0" dirty="0">
                <a:solidFill>
                  <a:srgbClr val="FBFBF9"/>
                </a:solidFill>
                <a:latin typeface="Space Grotesk" pitchFamily="34" charset="0"/>
                <a:ea typeface="Space Grotesk" pitchFamily="34" charset="-122"/>
                <a:cs typeface="Space Grotesk" pitchFamily="34" charset="-120"/>
              </a:rPr>
              <a:t>When a new application is proposed for automation, we don't start by writing scripts.</a:t>
            </a:r>
            <a:endParaRPr lang="en-US" sz="4000" dirty="0"/>
          </a:p>
        </p:txBody>
      </p:sp>
      <p:sp>
        <p:nvSpPr>
          <p:cNvPr id="4" name="Text 2"/>
          <p:cNvSpPr/>
          <p:nvPr/>
        </p:nvSpPr>
        <p:spPr>
          <a:xfrm>
            <a:off x="812800" y="4401790"/>
            <a:ext cx="915670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7C2CC"/>
                </a:solidFill>
                <a:latin typeface="Inter" pitchFamily="34" charset="0"/>
                <a:ea typeface="Inter" pitchFamily="34" charset="-122"/>
                <a:cs typeface="Inter" pitchFamily="34" charset="-120"/>
              </a:rPr>
              <a:t>We run it through a structured readiness check first — so effort goes where automation will actually succeed.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0F2238"/>
                </a:solidFill>
                <a:latin typeface="Space Grotesk" pitchFamily="34" charset="0"/>
                <a:ea typeface="Space Grotesk" pitchFamily="34" charset="-122"/>
                <a:cs typeface="Space Grotesk" pitchFamily="34" charset="-120"/>
              </a:rPr>
              <a:t>Our Readiness Framework</a:t>
            </a:r>
            <a:endParaRPr lang="en-US" sz="3600" dirty="0"/>
          </a:p>
        </p:txBody>
      </p:sp>
      <p:sp>
        <p:nvSpPr>
          <p:cNvPr id="3" name="Text 1"/>
          <p:cNvSpPr/>
          <p:nvPr/>
        </p:nvSpPr>
        <p:spPr>
          <a:xfrm>
            <a:off x="812800" y="164336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C6B78"/>
                </a:solidFill>
                <a:latin typeface="Inter" pitchFamily="34" charset="0"/>
                <a:ea typeface="Inter" pitchFamily="34" charset="-122"/>
                <a:cs typeface="Inter" pitchFamily="34" charset="-120"/>
              </a:rPr>
              <a:t>Four checks, every time, before any automation work begins</a:t>
            </a:r>
            <a:endParaRPr lang="en-US" sz="1400" dirty="0"/>
          </a:p>
        </p:txBody>
      </p:sp>
      <p:sp>
        <p:nvSpPr>
          <p:cNvPr id="4" name="Shape 2"/>
          <p:cNvSpPr/>
          <p:nvPr/>
        </p:nvSpPr>
        <p:spPr>
          <a:xfrm>
            <a:off x="815975" y="3091855"/>
            <a:ext cx="2292350" cy="1855341"/>
          </a:xfrm>
          <a:prstGeom prst="roundRect">
            <a:avLst>
              <a:gd name="adj" fmla="val 5305"/>
            </a:avLst>
          </a:prstGeom>
          <a:solidFill>
            <a:srgbClr val="FFFFFF"/>
          </a:solidFill>
          <a:ln w="6350">
            <a:solidFill>
              <a:srgbClr val="E2E6E9"/>
            </a:solidFill>
            <a:prstDash val="solid"/>
          </a:ln>
        </p:spPr>
      </p:sp>
      <p:sp>
        <p:nvSpPr>
          <p:cNvPr id="5" name="Text 3"/>
          <p:cNvSpPr/>
          <p:nvPr/>
        </p:nvSpPr>
        <p:spPr>
          <a:xfrm>
            <a:off x="1073150" y="3349030"/>
            <a:ext cx="183134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BB3A3"/>
                </a:solidFill>
                <a:latin typeface="Space Grotesk" pitchFamily="34" charset="0"/>
                <a:ea typeface="Space Grotesk" pitchFamily="34" charset="-122"/>
                <a:cs typeface="Space Grotesk" pitchFamily="34" charset="-120"/>
              </a:rPr>
              <a:t>01</a:t>
            </a:r>
            <a:endParaRPr lang="en-US" sz="2800" dirty="0"/>
          </a:p>
        </p:txBody>
      </p:sp>
      <p:sp>
        <p:nvSpPr>
          <p:cNvPr id="6" name="Text 4"/>
          <p:cNvSpPr/>
          <p:nvPr/>
        </p:nvSpPr>
        <p:spPr>
          <a:xfrm>
            <a:off x="1073150" y="3948460"/>
            <a:ext cx="18313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2238"/>
                </a:solidFill>
                <a:latin typeface="Inter" pitchFamily="34" charset="0"/>
                <a:ea typeface="Inter" pitchFamily="34" charset="-122"/>
                <a:cs typeface="Inter" pitchFamily="34" charset="-120"/>
              </a:rPr>
              <a:t>Feasibility Analysis</a:t>
            </a:r>
            <a:endParaRPr lang="en-US" sz="1400" dirty="0"/>
          </a:p>
        </p:txBody>
      </p:sp>
      <p:sp>
        <p:nvSpPr>
          <p:cNvPr id="7" name="Text 5"/>
          <p:cNvSpPr/>
          <p:nvPr/>
        </p:nvSpPr>
        <p:spPr>
          <a:xfrm>
            <a:off x="1073150" y="4263380"/>
            <a:ext cx="18313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8"/>
                </a:solidFill>
                <a:latin typeface="Inter" pitchFamily="34" charset="0"/>
                <a:ea typeface="Inter" pitchFamily="34" charset="-122"/>
                <a:cs typeface="Inter" pitchFamily="34" charset="-120"/>
              </a:rPr>
              <a:t>Is this a good candidate for automation?</a:t>
            </a:r>
            <a:endParaRPr lang="en-US" sz="1200" dirty="0"/>
          </a:p>
        </p:txBody>
      </p:sp>
      <p:pic>
        <p:nvPicPr>
          <p:cNvPr id="8" name="Image 0" descr="arrow-right">    </p:cNvPr>
          <p:cNvPicPr>
            <a:picLocks noChangeAspect="1"/>
          </p:cNvPicPr>
          <p:nvPr/>
        </p:nvPicPr>
        <p:blipFill>
          <a:blip r:embed="rId1"/>
          <a:srcRect l="0" r="0" t="0" b="0"/>
          <a:stretch/>
        </p:blipFill>
        <p:spPr>
          <a:xfrm>
            <a:off x="3213100" y="3892500"/>
            <a:ext cx="254000" cy="254000"/>
          </a:xfrm>
          <a:prstGeom prst="rect">
            <a:avLst/>
          </a:prstGeom>
        </p:spPr>
      </p:pic>
      <p:sp>
        <p:nvSpPr>
          <p:cNvPr id="9" name="Shape 6"/>
          <p:cNvSpPr/>
          <p:nvPr/>
        </p:nvSpPr>
        <p:spPr>
          <a:xfrm>
            <a:off x="3571875" y="2985195"/>
            <a:ext cx="2292350" cy="2068661"/>
          </a:xfrm>
          <a:prstGeom prst="roundRect">
            <a:avLst>
              <a:gd name="adj" fmla="val 4758"/>
            </a:avLst>
          </a:prstGeom>
          <a:solidFill>
            <a:srgbClr val="FFFFFF"/>
          </a:solidFill>
          <a:ln w="6350">
            <a:solidFill>
              <a:srgbClr val="E2E6E9"/>
            </a:solidFill>
            <a:prstDash val="solid"/>
          </a:ln>
        </p:spPr>
      </p:sp>
      <p:sp>
        <p:nvSpPr>
          <p:cNvPr id="10" name="Text 7"/>
          <p:cNvSpPr/>
          <p:nvPr/>
        </p:nvSpPr>
        <p:spPr>
          <a:xfrm>
            <a:off x="3829050" y="3242370"/>
            <a:ext cx="183134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BB3A3"/>
                </a:solidFill>
                <a:latin typeface="Space Grotesk" pitchFamily="34" charset="0"/>
                <a:ea typeface="Space Grotesk" pitchFamily="34" charset="-122"/>
                <a:cs typeface="Space Grotesk" pitchFamily="34" charset="-120"/>
              </a:rPr>
              <a:t>02</a:t>
            </a:r>
            <a:endParaRPr lang="en-US" sz="2800" dirty="0"/>
          </a:p>
        </p:txBody>
      </p:sp>
      <p:sp>
        <p:nvSpPr>
          <p:cNvPr id="11" name="Text 8"/>
          <p:cNvSpPr/>
          <p:nvPr/>
        </p:nvSpPr>
        <p:spPr>
          <a:xfrm>
            <a:off x="3829050" y="3841800"/>
            <a:ext cx="183134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2238"/>
                </a:solidFill>
                <a:latin typeface="Inter" pitchFamily="34" charset="0"/>
                <a:ea typeface="Inter" pitchFamily="34" charset="-122"/>
                <a:cs typeface="Inter" pitchFamily="34" charset="-120"/>
              </a:rPr>
              <a:t>Manual Test Suite Readiness</a:t>
            </a:r>
            <a:endParaRPr lang="en-US" sz="1400" dirty="0"/>
          </a:p>
        </p:txBody>
      </p:sp>
      <p:sp>
        <p:nvSpPr>
          <p:cNvPr id="12" name="Text 9"/>
          <p:cNvSpPr/>
          <p:nvPr/>
        </p:nvSpPr>
        <p:spPr>
          <a:xfrm>
            <a:off x="3829050" y="4370040"/>
            <a:ext cx="18313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8"/>
                </a:solidFill>
                <a:latin typeface="Inter" pitchFamily="34" charset="0"/>
                <a:ea typeface="Inter" pitchFamily="34" charset="-122"/>
                <a:cs typeface="Inter" pitchFamily="34" charset="-120"/>
              </a:rPr>
              <a:t>Do we have test cases to build on?</a:t>
            </a:r>
            <a:endParaRPr lang="en-US" sz="1200" dirty="0"/>
          </a:p>
        </p:txBody>
      </p:sp>
      <p:pic>
        <p:nvPicPr>
          <p:cNvPr id="13" name="Image 1" descr="arrow-right">    </p:cNvPr>
          <p:cNvPicPr>
            <a:picLocks noChangeAspect="1"/>
          </p:cNvPicPr>
          <p:nvPr/>
        </p:nvPicPr>
        <p:blipFill>
          <a:blip r:embed="rId2"/>
          <a:srcRect l="0" r="0" t="0" b="0"/>
          <a:stretch/>
        </p:blipFill>
        <p:spPr>
          <a:xfrm>
            <a:off x="5969000" y="3892500"/>
            <a:ext cx="254000" cy="254000"/>
          </a:xfrm>
          <a:prstGeom prst="rect">
            <a:avLst/>
          </a:prstGeom>
        </p:spPr>
      </p:pic>
      <p:sp>
        <p:nvSpPr>
          <p:cNvPr id="14" name="Shape 10"/>
          <p:cNvSpPr/>
          <p:nvPr/>
        </p:nvSpPr>
        <p:spPr>
          <a:xfrm>
            <a:off x="6327775" y="2985195"/>
            <a:ext cx="2292350" cy="2068661"/>
          </a:xfrm>
          <a:prstGeom prst="roundRect">
            <a:avLst>
              <a:gd name="adj" fmla="val 4758"/>
            </a:avLst>
          </a:prstGeom>
          <a:solidFill>
            <a:srgbClr val="FFFFFF"/>
          </a:solidFill>
          <a:ln w="6350">
            <a:solidFill>
              <a:srgbClr val="E2E6E9"/>
            </a:solidFill>
            <a:prstDash val="solid"/>
          </a:ln>
        </p:spPr>
      </p:sp>
      <p:sp>
        <p:nvSpPr>
          <p:cNvPr id="15" name="Text 11"/>
          <p:cNvSpPr/>
          <p:nvPr/>
        </p:nvSpPr>
        <p:spPr>
          <a:xfrm>
            <a:off x="6584950" y="3242370"/>
            <a:ext cx="183134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BB3A3"/>
                </a:solidFill>
                <a:latin typeface="Space Grotesk" pitchFamily="34" charset="0"/>
                <a:ea typeface="Space Grotesk" pitchFamily="34" charset="-122"/>
                <a:cs typeface="Space Grotesk" pitchFamily="34" charset="-120"/>
              </a:rPr>
              <a:t>03</a:t>
            </a:r>
            <a:endParaRPr lang="en-US" sz="2800" dirty="0"/>
          </a:p>
        </p:txBody>
      </p:sp>
      <p:sp>
        <p:nvSpPr>
          <p:cNvPr id="16" name="Text 12"/>
          <p:cNvSpPr/>
          <p:nvPr/>
        </p:nvSpPr>
        <p:spPr>
          <a:xfrm>
            <a:off x="6584950" y="3841800"/>
            <a:ext cx="183134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2238"/>
                </a:solidFill>
                <a:latin typeface="Inter" pitchFamily="34" charset="0"/>
                <a:ea typeface="Inter" pitchFamily="34" charset="-122"/>
                <a:cs typeface="Inter" pitchFamily="34" charset="-120"/>
              </a:rPr>
              <a:t>Technology &amp; Platform Fit</a:t>
            </a:r>
            <a:endParaRPr lang="en-US" sz="1400" dirty="0"/>
          </a:p>
        </p:txBody>
      </p:sp>
      <p:sp>
        <p:nvSpPr>
          <p:cNvPr id="17" name="Text 13"/>
          <p:cNvSpPr/>
          <p:nvPr/>
        </p:nvSpPr>
        <p:spPr>
          <a:xfrm>
            <a:off x="6584950" y="4370040"/>
            <a:ext cx="18313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8"/>
                </a:solidFill>
                <a:latin typeface="Inter" pitchFamily="34" charset="0"/>
                <a:ea typeface="Inter" pitchFamily="34" charset="-122"/>
                <a:cs typeface="Inter" pitchFamily="34" charset="-120"/>
              </a:rPr>
              <a:t>Which tools and platforms apply?</a:t>
            </a:r>
            <a:endParaRPr lang="en-US" sz="1200" dirty="0"/>
          </a:p>
        </p:txBody>
      </p:sp>
      <p:pic>
        <p:nvPicPr>
          <p:cNvPr id="18" name="Image 2" descr="arrow-right">    </p:cNvPr>
          <p:cNvPicPr>
            <a:picLocks noChangeAspect="1"/>
          </p:cNvPicPr>
          <p:nvPr/>
        </p:nvPicPr>
        <p:blipFill>
          <a:blip r:embed="rId3"/>
          <a:srcRect l="0" r="0" t="0" b="0"/>
          <a:stretch/>
        </p:blipFill>
        <p:spPr>
          <a:xfrm>
            <a:off x="8724900" y="3892500"/>
            <a:ext cx="254000" cy="254000"/>
          </a:xfrm>
          <a:prstGeom prst="rect">
            <a:avLst/>
          </a:prstGeom>
        </p:spPr>
      </p:pic>
      <p:sp>
        <p:nvSpPr>
          <p:cNvPr id="19" name="Shape 14"/>
          <p:cNvSpPr/>
          <p:nvPr/>
        </p:nvSpPr>
        <p:spPr>
          <a:xfrm>
            <a:off x="9083675" y="2985195"/>
            <a:ext cx="2292350" cy="2068661"/>
          </a:xfrm>
          <a:prstGeom prst="roundRect">
            <a:avLst>
              <a:gd name="adj" fmla="val 4758"/>
            </a:avLst>
          </a:prstGeom>
          <a:solidFill>
            <a:srgbClr val="FFFFFF"/>
          </a:solidFill>
          <a:ln w="6350">
            <a:solidFill>
              <a:srgbClr val="E2E6E9"/>
            </a:solidFill>
            <a:prstDash val="solid"/>
          </a:ln>
        </p:spPr>
      </p:sp>
      <p:sp>
        <p:nvSpPr>
          <p:cNvPr id="20" name="Text 15"/>
          <p:cNvSpPr/>
          <p:nvPr/>
        </p:nvSpPr>
        <p:spPr>
          <a:xfrm>
            <a:off x="9340850" y="3242370"/>
            <a:ext cx="183134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BB3A3"/>
                </a:solidFill>
                <a:latin typeface="Space Grotesk" pitchFamily="34" charset="0"/>
                <a:ea typeface="Space Grotesk" pitchFamily="34" charset="-122"/>
                <a:cs typeface="Space Grotesk" pitchFamily="34" charset="-120"/>
              </a:rPr>
              <a:t>04</a:t>
            </a:r>
            <a:endParaRPr lang="en-US" sz="2800" dirty="0"/>
          </a:p>
        </p:txBody>
      </p:sp>
      <p:sp>
        <p:nvSpPr>
          <p:cNvPr id="21" name="Text 16"/>
          <p:cNvSpPr/>
          <p:nvPr/>
        </p:nvSpPr>
        <p:spPr>
          <a:xfrm>
            <a:off x="9340850" y="3841800"/>
            <a:ext cx="183134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2238"/>
                </a:solidFill>
                <a:latin typeface="Inter" pitchFamily="34" charset="0"/>
                <a:ea typeface="Inter" pitchFamily="34" charset="-122"/>
                <a:cs typeface="Inter" pitchFamily="34" charset="-120"/>
              </a:rPr>
              <a:t>Effort, Timeline &amp; Go/No-Go</a:t>
            </a:r>
            <a:endParaRPr lang="en-US" sz="1400" dirty="0"/>
          </a:p>
        </p:txBody>
      </p:sp>
      <p:sp>
        <p:nvSpPr>
          <p:cNvPr id="22" name="Text 17"/>
          <p:cNvSpPr/>
          <p:nvPr/>
        </p:nvSpPr>
        <p:spPr>
          <a:xfrm>
            <a:off x="9340850" y="4370040"/>
            <a:ext cx="18313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8"/>
                </a:solidFill>
                <a:latin typeface="Inter" pitchFamily="34" charset="0"/>
                <a:ea typeface="Inter" pitchFamily="34" charset="-122"/>
                <a:cs typeface="Inter" pitchFamily="34" charset="-120"/>
              </a:rPr>
              <a:t>What's the plan, and is it worth it?</a:t>
            </a:r>
            <a:endParaRPr lang="en-US" sz="1200" dirty="0"/>
          </a:p>
        </p:txBody>
      </p:sp>
      <p:sp>
        <p:nvSpPr>
          <p:cNvPr id="23" name="Text 18"/>
          <p:cNvSpPr/>
          <p:nvPr/>
        </p:nvSpPr>
        <p:spPr>
          <a:xfrm>
            <a:off x="812800" y="6238280"/>
            <a:ext cx="7658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C"/>
                </a:solidFill>
                <a:latin typeface="Inter" pitchFamily="34" charset="0"/>
                <a:ea typeface="Inter" pitchFamily="34" charset="-122"/>
                <a:cs typeface="Inter" pitchFamily="34" charset="-120"/>
              </a:rPr>
              <a:t>UAT CoE</a:t>
            </a:r>
            <a:endParaRPr lang="en-US" sz="1200" dirty="0"/>
          </a:p>
        </p:txBody>
      </p:sp>
      <p:sp>
        <p:nvSpPr>
          <p:cNvPr id="24" name="Text 19"/>
          <p:cNvSpPr/>
          <p:nvPr/>
        </p:nvSpPr>
        <p:spPr>
          <a:xfrm>
            <a:off x="11288762" y="6238280"/>
            <a:ext cx="1412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C"/>
                </a:solidFill>
                <a:latin typeface="Inter" pitchFamily="34" charset="0"/>
                <a:ea typeface="Inter" pitchFamily="34" charset="-122"/>
                <a:cs typeface="Inter"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812800" y="812800"/>
            <a:ext cx="3556000" cy="5029200"/>
          </a:xfrm>
          <a:prstGeom prst="roundRect">
            <a:avLst>
              <a:gd name="adj" fmla="val 4286"/>
            </a:avLst>
          </a:prstGeom>
          <a:solidFill>
            <a:srgbClr val="0F2238"/>
          </a:solidFill>
          <a:ln/>
        </p:spPr>
      </p:sp>
      <p:sp>
        <p:nvSpPr>
          <p:cNvPr id="3" name="Text 1"/>
          <p:cNvSpPr/>
          <p:nvPr/>
        </p:nvSpPr>
        <p:spPr>
          <a:xfrm>
            <a:off x="1117600" y="2286050"/>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D9CC"/>
                </a:solidFill>
                <a:latin typeface="Inter" pitchFamily="34" charset="0"/>
                <a:ea typeface="Inter" pitchFamily="34" charset="-122"/>
                <a:cs typeface="Inter" pitchFamily="34" charset="-120"/>
              </a:rPr>
              <a:t>PILLAR 01</a:t>
            </a:r>
            <a:endParaRPr lang="en-US" sz="1200" dirty="0"/>
          </a:p>
        </p:txBody>
      </p:sp>
      <p:sp>
        <p:nvSpPr>
          <p:cNvPr id="4" name="Text 2"/>
          <p:cNvSpPr/>
          <p:nvPr>
            <p:ph type="title"/>
          </p:nvPr>
        </p:nvSpPr>
        <p:spPr>
          <a:xfrm>
            <a:off x="1117600" y="2651770"/>
            <a:ext cx="30347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FBFBF9"/>
                </a:solidFill>
                <a:latin typeface="Space Grotesk" pitchFamily="34" charset="0"/>
                <a:ea typeface="Space Grotesk" pitchFamily="34" charset="-122"/>
                <a:cs typeface="Space Grotesk" pitchFamily="34" charset="-120"/>
              </a:rPr>
              <a:t>Feasibility Analysis</a:t>
            </a:r>
            <a:endParaRPr lang="en-US" sz="2800" dirty="0"/>
          </a:p>
        </p:txBody>
      </p:sp>
      <p:sp>
        <p:nvSpPr>
          <p:cNvPr id="5" name="Text 3"/>
          <p:cNvSpPr/>
          <p:nvPr/>
        </p:nvSpPr>
        <p:spPr>
          <a:xfrm>
            <a:off x="1117600" y="3622030"/>
            <a:ext cx="303479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7C2CC"/>
                </a:solidFill>
                <a:latin typeface="Inter" pitchFamily="34" charset="0"/>
                <a:ea typeface="Inter" pitchFamily="34" charset="-122"/>
                <a:cs typeface="Inter" pitchFamily="34" charset="-120"/>
              </a:rPr>
              <a:t>Is this application actually a good candidate for automation, and will the investment pay off?</a:t>
            </a:r>
            <a:endParaRPr lang="en-US" sz="1400" dirty="0"/>
          </a:p>
        </p:txBody>
      </p:sp>
      <p:sp>
        <p:nvSpPr>
          <p:cNvPr id="6" name="Text 4"/>
          <p:cNvSpPr/>
          <p:nvPr/>
        </p:nvSpPr>
        <p:spPr>
          <a:xfrm>
            <a:off x="4775200" y="2118420"/>
            <a:ext cx="304800" cy="304800"/>
          </a:xfrm>
          <a:prstGeom prst="roundRect">
            <a:avLst>
              <a:gd name="adj" fmla="val 50000"/>
            </a:avLst>
          </a:prstGeom>
          <a:solidFill>
            <a:srgbClr val="E8F6F3"/>
          </a:solidFill>
          <a:ln/>
        </p:spPr>
        <p:txBody>
          <a:bodyPr wrap="square" lIns="0" tIns="0" rIns="0" bIns="0" rtlCol="0" anchor="ctr">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1</a:t>
            </a:r>
            <a:endParaRPr lang="en-US" sz="1200" dirty="0"/>
          </a:p>
        </p:txBody>
      </p:sp>
      <p:sp>
        <p:nvSpPr>
          <p:cNvPr id="7" name="Text 5"/>
          <p:cNvSpPr/>
          <p:nvPr/>
        </p:nvSpPr>
        <p:spPr>
          <a:xfrm>
            <a:off x="5207000" y="2118420"/>
            <a:ext cx="635736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2C"/>
                </a:solidFill>
                <a:latin typeface="Inter" pitchFamily="34" charset="0"/>
                <a:ea typeface="Inter" pitchFamily="34" charset="-122"/>
                <a:cs typeface="Inter" pitchFamily="34" charset="-120"/>
              </a:rPr>
              <a:t>Application stability and release cadence — can scripts keep pace with change?</a:t>
            </a:r>
            <a:endParaRPr lang="en-US" sz="1400" dirty="0"/>
          </a:p>
        </p:txBody>
      </p:sp>
      <p:sp>
        <p:nvSpPr>
          <p:cNvPr id="8" name="Text 6"/>
          <p:cNvSpPr/>
          <p:nvPr/>
        </p:nvSpPr>
        <p:spPr>
          <a:xfrm>
            <a:off x="4775200" y="2743200"/>
            <a:ext cx="304800" cy="304800"/>
          </a:xfrm>
          <a:prstGeom prst="roundRect">
            <a:avLst>
              <a:gd name="adj" fmla="val 50000"/>
            </a:avLst>
          </a:prstGeom>
          <a:solidFill>
            <a:srgbClr val="E8F6F3"/>
          </a:solidFill>
          <a:ln/>
        </p:spPr>
        <p:txBody>
          <a:bodyPr wrap="square" lIns="0" tIns="0" rIns="0" bIns="0" rtlCol="0" anchor="ctr">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2</a:t>
            </a:r>
            <a:endParaRPr lang="en-US" sz="1200" dirty="0"/>
          </a:p>
        </p:txBody>
      </p:sp>
      <p:sp>
        <p:nvSpPr>
          <p:cNvPr id="9" name="Text 7"/>
          <p:cNvSpPr/>
          <p:nvPr/>
        </p:nvSpPr>
        <p:spPr>
          <a:xfrm>
            <a:off x="5207000" y="2743200"/>
            <a:ext cx="635736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2C"/>
                </a:solidFill>
                <a:latin typeface="Inter" pitchFamily="34" charset="0"/>
                <a:ea typeface="Inter" pitchFamily="34" charset="-122"/>
                <a:cs typeface="Inter" pitchFamily="34" charset="-120"/>
              </a:rPr>
              <a:t>Complexity of workflows and test scenarios</a:t>
            </a:r>
            <a:endParaRPr lang="en-US" sz="1400" dirty="0"/>
          </a:p>
        </p:txBody>
      </p:sp>
      <p:sp>
        <p:nvSpPr>
          <p:cNvPr id="10" name="Text 8"/>
          <p:cNvSpPr/>
          <p:nvPr/>
        </p:nvSpPr>
        <p:spPr>
          <a:xfrm>
            <a:off x="4775200" y="3175000"/>
            <a:ext cx="304800" cy="304800"/>
          </a:xfrm>
          <a:prstGeom prst="roundRect">
            <a:avLst>
              <a:gd name="adj" fmla="val 50000"/>
            </a:avLst>
          </a:prstGeom>
          <a:solidFill>
            <a:srgbClr val="E8F6F3"/>
          </a:solidFill>
          <a:ln/>
        </p:spPr>
        <p:txBody>
          <a:bodyPr wrap="square" lIns="0" tIns="0" rIns="0" bIns="0" rtlCol="0" anchor="ctr">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3</a:t>
            </a:r>
            <a:endParaRPr lang="en-US" sz="1200" dirty="0"/>
          </a:p>
        </p:txBody>
      </p:sp>
      <p:sp>
        <p:nvSpPr>
          <p:cNvPr id="11" name="Text 9"/>
          <p:cNvSpPr/>
          <p:nvPr/>
        </p:nvSpPr>
        <p:spPr>
          <a:xfrm>
            <a:off x="5207000" y="3175000"/>
            <a:ext cx="635736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2C"/>
                </a:solidFill>
                <a:latin typeface="Inter" pitchFamily="34" charset="0"/>
                <a:ea typeface="Inter" pitchFamily="34" charset="-122"/>
                <a:cs typeface="Inter" pitchFamily="34" charset="-120"/>
              </a:rPr>
              <a:t>Regression frequency and manual-effort hours at stake</a:t>
            </a:r>
            <a:endParaRPr lang="en-US" sz="1400" dirty="0"/>
          </a:p>
        </p:txBody>
      </p:sp>
      <p:sp>
        <p:nvSpPr>
          <p:cNvPr id="12" name="Text 10"/>
          <p:cNvSpPr/>
          <p:nvPr/>
        </p:nvSpPr>
        <p:spPr>
          <a:xfrm>
            <a:off x="4775200" y="3606800"/>
            <a:ext cx="304800" cy="304800"/>
          </a:xfrm>
          <a:prstGeom prst="roundRect">
            <a:avLst>
              <a:gd name="adj" fmla="val 50000"/>
            </a:avLst>
          </a:prstGeom>
          <a:solidFill>
            <a:srgbClr val="E8F6F3"/>
          </a:solidFill>
          <a:ln/>
        </p:spPr>
        <p:txBody>
          <a:bodyPr wrap="square" lIns="0" tIns="0" rIns="0" bIns="0" rtlCol="0" anchor="ctr">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4</a:t>
            </a:r>
            <a:endParaRPr lang="en-US" sz="1200" dirty="0"/>
          </a:p>
        </p:txBody>
      </p:sp>
      <p:sp>
        <p:nvSpPr>
          <p:cNvPr id="13" name="Text 11"/>
          <p:cNvSpPr/>
          <p:nvPr/>
        </p:nvSpPr>
        <p:spPr>
          <a:xfrm>
            <a:off x="5207000" y="3606800"/>
            <a:ext cx="635736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2C"/>
                </a:solidFill>
                <a:latin typeface="Inter" pitchFamily="34" charset="0"/>
                <a:ea typeface="Inter" pitchFamily="34" charset="-122"/>
                <a:cs typeface="Inter" pitchFamily="34" charset="-120"/>
              </a:rPr>
              <a:t>Automatability of the UI, API, or screens — locators, documentation, layouts</a:t>
            </a:r>
            <a:endParaRPr lang="en-US" sz="1400" dirty="0"/>
          </a:p>
        </p:txBody>
      </p:sp>
      <p:sp>
        <p:nvSpPr>
          <p:cNvPr id="14" name="Text 12"/>
          <p:cNvSpPr/>
          <p:nvPr/>
        </p:nvSpPr>
        <p:spPr>
          <a:xfrm>
            <a:off x="4775200" y="4231580"/>
            <a:ext cx="304800" cy="304800"/>
          </a:xfrm>
          <a:prstGeom prst="roundRect">
            <a:avLst>
              <a:gd name="adj" fmla="val 50000"/>
            </a:avLst>
          </a:prstGeom>
          <a:solidFill>
            <a:srgbClr val="E8F6F3"/>
          </a:solidFill>
          <a:ln/>
        </p:spPr>
        <p:txBody>
          <a:bodyPr wrap="square" lIns="0" tIns="0" rIns="0" bIns="0" rtlCol="0" anchor="ctr">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5</a:t>
            </a:r>
            <a:endParaRPr lang="en-US" sz="1200" dirty="0"/>
          </a:p>
        </p:txBody>
      </p:sp>
      <p:sp>
        <p:nvSpPr>
          <p:cNvPr id="15" name="Text 13"/>
          <p:cNvSpPr/>
          <p:nvPr/>
        </p:nvSpPr>
        <p:spPr>
          <a:xfrm>
            <a:off x="5207000" y="4231580"/>
            <a:ext cx="635736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2C"/>
                </a:solidFill>
                <a:latin typeface="Inter" pitchFamily="34" charset="0"/>
                <a:ea typeface="Inter" pitchFamily="34" charset="-122"/>
                <a:cs typeface="Inter" pitchFamily="34" charset="-120"/>
              </a:rPr>
              <a:t>Test environment and test-data availability</a:t>
            </a:r>
            <a:endParaRPr lang="en-US" sz="1400" dirty="0"/>
          </a:p>
        </p:txBody>
      </p:sp>
      <p:sp>
        <p:nvSpPr>
          <p:cNvPr id="16" name="Text 14"/>
          <p:cNvSpPr/>
          <p:nvPr/>
        </p:nvSpPr>
        <p:spPr>
          <a:xfrm>
            <a:off x="812800" y="6238280"/>
            <a:ext cx="7658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C"/>
                </a:solidFill>
                <a:latin typeface="Inter" pitchFamily="34" charset="0"/>
                <a:ea typeface="Inter" pitchFamily="34" charset="-122"/>
                <a:cs typeface="Inter" pitchFamily="34" charset="-120"/>
              </a:rPr>
              <a:t>UAT CoE</a:t>
            </a:r>
            <a:endParaRPr lang="en-US" sz="1200" dirty="0"/>
          </a:p>
        </p:txBody>
      </p:sp>
      <p:sp>
        <p:nvSpPr>
          <p:cNvPr id="17" name="Text 15"/>
          <p:cNvSpPr/>
          <p:nvPr/>
        </p:nvSpPr>
        <p:spPr>
          <a:xfrm>
            <a:off x="11284694" y="6238280"/>
            <a:ext cx="145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C"/>
                </a:solidFill>
                <a:latin typeface="Inter" pitchFamily="34" charset="0"/>
                <a:ea typeface="Inter" pitchFamily="34" charset="-122"/>
                <a:cs typeface="Inter"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812800" y="812800"/>
            <a:ext cx="3556000" cy="5029200"/>
          </a:xfrm>
          <a:prstGeom prst="roundRect">
            <a:avLst>
              <a:gd name="adj" fmla="val 4286"/>
            </a:avLst>
          </a:prstGeom>
          <a:solidFill>
            <a:srgbClr val="0F2238"/>
          </a:solidFill>
          <a:ln/>
        </p:spPr>
      </p:sp>
      <p:sp>
        <p:nvSpPr>
          <p:cNvPr id="3" name="Text 1"/>
          <p:cNvSpPr/>
          <p:nvPr/>
        </p:nvSpPr>
        <p:spPr>
          <a:xfrm>
            <a:off x="1117600" y="2286050"/>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D9CC"/>
                </a:solidFill>
                <a:latin typeface="Inter" pitchFamily="34" charset="0"/>
                <a:ea typeface="Inter" pitchFamily="34" charset="-122"/>
                <a:cs typeface="Inter" pitchFamily="34" charset="-120"/>
              </a:rPr>
              <a:t>PILLAR 02</a:t>
            </a:r>
            <a:endParaRPr lang="en-US" sz="1200" dirty="0"/>
          </a:p>
        </p:txBody>
      </p:sp>
      <p:sp>
        <p:nvSpPr>
          <p:cNvPr id="4" name="Text 2"/>
          <p:cNvSpPr/>
          <p:nvPr>
            <p:ph type="title"/>
          </p:nvPr>
        </p:nvSpPr>
        <p:spPr>
          <a:xfrm>
            <a:off x="1117600" y="2651770"/>
            <a:ext cx="30347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FBFBF9"/>
                </a:solidFill>
                <a:latin typeface="Space Grotesk" pitchFamily="34" charset="0"/>
                <a:ea typeface="Space Grotesk" pitchFamily="34" charset="-122"/>
                <a:cs typeface="Space Grotesk" pitchFamily="34" charset="-120"/>
              </a:rPr>
              <a:t>Manual Test Suite Readiness</a:t>
            </a:r>
            <a:endParaRPr lang="en-US" sz="2800" dirty="0"/>
          </a:p>
        </p:txBody>
      </p:sp>
      <p:sp>
        <p:nvSpPr>
          <p:cNvPr id="5" name="Text 3"/>
          <p:cNvSpPr/>
          <p:nvPr/>
        </p:nvSpPr>
        <p:spPr>
          <a:xfrm>
            <a:off x="1117600" y="3622030"/>
            <a:ext cx="303479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7C2CC"/>
                </a:solidFill>
                <a:latin typeface="Inter" pitchFamily="34" charset="0"/>
                <a:ea typeface="Inter" pitchFamily="34" charset="-122"/>
                <a:cs typeface="Inter" pitchFamily="34" charset="-120"/>
              </a:rPr>
              <a:t>Do we already have test coverage to build automation on — or do we need to create it first?</a:t>
            </a:r>
            <a:endParaRPr lang="en-US" sz="1400" dirty="0"/>
          </a:p>
        </p:txBody>
      </p:sp>
      <p:sp>
        <p:nvSpPr>
          <p:cNvPr id="6" name="Text 4"/>
          <p:cNvSpPr/>
          <p:nvPr/>
        </p:nvSpPr>
        <p:spPr>
          <a:xfrm>
            <a:off x="4775200" y="2430810"/>
            <a:ext cx="304800" cy="304800"/>
          </a:xfrm>
          <a:prstGeom prst="roundRect">
            <a:avLst>
              <a:gd name="adj" fmla="val 50000"/>
            </a:avLst>
          </a:prstGeom>
          <a:solidFill>
            <a:srgbClr val="E8F6F3"/>
          </a:solidFill>
          <a:ln/>
        </p:spPr>
        <p:txBody>
          <a:bodyPr wrap="square" lIns="0" tIns="0" rIns="0" bIns="0" rtlCol="0" anchor="ctr">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1</a:t>
            </a:r>
            <a:endParaRPr lang="en-US" sz="1200" dirty="0"/>
          </a:p>
        </p:txBody>
      </p:sp>
      <p:sp>
        <p:nvSpPr>
          <p:cNvPr id="7" name="Text 5"/>
          <p:cNvSpPr/>
          <p:nvPr/>
        </p:nvSpPr>
        <p:spPr>
          <a:xfrm>
            <a:off x="5207000" y="2430810"/>
            <a:ext cx="635736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2C"/>
                </a:solidFill>
                <a:latin typeface="Inter" pitchFamily="34" charset="0"/>
                <a:ea typeface="Inter" pitchFamily="34" charset="-122"/>
                <a:cs typeface="Inter" pitchFamily="34" charset="-120"/>
              </a:rPr>
              <a:t>Is there a documented, maintained manual test suite today?</a:t>
            </a:r>
            <a:endParaRPr lang="en-US" sz="1400" dirty="0"/>
          </a:p>
        </p:txBody>
      </p:sp>
      <p:sp>
        <p:nvSpPr>
          <p:cNvPr id="8" name="Text 6"/>
          <p:cNvSpPr/>
          <p:nvPr/>
        </p:nvSpPr>
        <p:spPr>
          <a:xfrm>
            <a:off x="4775200" y="2862610"/>
            <a:ext cx="304800" cy="304800"/>
          </a:xfrm>
          <a:prstGeom prst="roundRect">
            <a:avLst>
              <a:gd name="adj" fmla="val 50000"/>
            </a:avLst>
          </a:prstGeom>
          <a:solidFill>
            <a:srgbClr val="E8F6F3"/>
          </a:solidFill>
          <a:ln/>
        </p:spPr>
        <p:txBody>
          <a:bodyPr wrap="square" lIns="0" tIns="0" rIns="0" bIns="0" rtlCol="0" anchor="ctr">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2</a:t>
            </a:r>
            <a:endParaRPr lang="en-US" sz="1200" dirty="0"/>
          </a:p>
        </p:txBody>
      </p:sp>
      <p:sp>
        <p:nvSpPr>
          <p:cNvPr id="9" name="Text 7"/>
          <p:cNvSpPr/>
          <p:nvPr/>
        </p:nvSpPr>
        <p:spPr>
          <a:xfrm>
            <a:off x="5207000" y="2862610"/>
            <a:ext cx="635736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2C"/>
                </a:solidFill>
                <a:latin typeface="Inter" pitchFamily="34" charset="0"/>
                <a:ea typeface="Inter" pitchFamily="34" charset="-122"/>
                <a:cs typeface="Inter" pitchFamily="34" charset="-120"/>
              </a:rPr>
              <a:t>Quality, coverage, and currency of existing test cases</a:t>
            </a:r>
            <a:endParaRPr lang="en-US" sz="1400" dirty="0"/>
          </a:p>
        </p:txBody>
      </p:sp>
      <p:sp>
        <p:nvSpPr>
          <p:cNvPr id="10" name="Text 8"/>
          <p:cNvSpPr/>
          <p:nvPr/>
        </p:nvSpPr>
        <p:spPr>
          <a:xfrm>
            <a:off x="4775200" y="3294410"/>
            <a:ext cx="304800" cy="304800"/>
          </a:xfrm>
          <a:prstGeom prst="roundRect">
            <a:avLst>
              <a:gd name="adj" fmla="val 50000"/>
            </a:avLst>
          </a:prstGeom>
          <a:solidFill>
            <a:srgbClr val="E8F6F3"/>
          </a:solidFill>
          <a:ln/>
        </p:spPr>
        <p:txBody>
          <a:bodyPr wrap="square" lIns="0" tIns="0" rIns="0" bIns="0" rtlCol="0" anchor="ctr">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3</a:t>
            </a:r>
            <a:endParaRPr lang="en-US" sz="1200" dirty="0"/>
          </a:p>
        </p:txBody>
      </p:sp>
      <p:sp>
        <p:nvSpPr>
          <p:cNvPr id="11" name="Text 9"/>
          <p:cNvSpPr/>
          <p:nvPr/>
        </p:nvSpPr>
        <p:spPr>
          <a:xfrm>
            <a:off x="5207000" y="3294410"/>
            <a:ext cx="635736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2C"/>
                </a:solidFill>
                <a:latin typeface="Inter" pitchFamily="34" charset="0"/>
                <a:ea typeface="Inter" pitchFamily="34" charset="-122"/>
                <a:cs typeface="Inter" pitchFamily="34" charset="-120"/>
              </a:rPr>
              <a:t>Functional specs or BRDs available to close any gaps</a:t>
            </a:r>
            <a:endParaRPr lang="en-US" sz="1400" dirty="0"/>
          </a:p>
        </p:txBody>
      </p:sp>
      <p:sp>
        <p:nvSpPr>
          <p:cNvPr id="12" name="Text 10"/>
          <p:cNvSpPr/>
          <p:nvPr/>
        </p:nvSpPr>
        <p:spPr>
          <a:xfrm>
            <a:off x="4775200" y="3726210"/>
            <a:ext cx="304800" cy="304800"/>
          </a:xfrm>
          <a:prstGeom prst="roundRect">
            <a:avLst>
              <a:gd name="adj" fmla="val 50000"/>
            </a:avLst>
          </a:prstGeom>
          <a:solidFill>
            <a:srgbClr val="E8F6F3"/>
          </a:solidFill>
          <a:ln/>
        </p:spPr>
        <p:txBody>
          <a:bodyPr wrap="square" lIns="0" tIns="0" rIns="0" bIns="0" rtlCol="0" anchor="ctr">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4</a:t>
            </a:r>
            <a:endParaRPr lang="en-US" sz="1200" dirty="0"/>
          </a:p>
        </p:txBody>
      </p:sp>
      <p:sp>
        <p:nvSpPr>
          <p:cNvPr id="13" name="Text 11"/>
          <p:cNvSpPr/>
          <p:nvPr/>
        </p:nvSpPr>
        <p:spPr>
          <a:xfrm>
            <a:off x="5207000" y="3726210"/>
            <a:ext cx="635736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2C"/>
                </a:solidFill>
                <a:latin typeface="Inter" pitchFamily="34" charset="0"/>
                <a:ea typeface="Inter" pitchFamily="34" charset="-122"/>
                <a:cs typeface="Inter" pitchFamily="34" charset="-120"/>
              </a:rPr>
              <a:t>If no suite exists, manual test cases are authored first — before automation starts</a:t>
            </a:r>
            <a:endParaRPr lang="en-US" sz="1400" dirty="0"/>
          </a:p>
        </p:txBody>
      </p:sp>
      <p:sp>
        <p:nvSpPr>
          <p:cNvPr id="14" name="Text 12"/>
          <p:cNvSpPr/>
          <p:nvPr/>
        </p:nvSpPr>
        <p:spPr>
          <a:xfrm>
            <a:off x="812800" y="6238280"/>
            <a:ext cx="7658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C"/>
                </a:solidFill>
                <a:latin typeface="Inter" pitchFamily="34" charset="0"/>
                <a:ea typeface="Inter" pitchFamily="34" charset="-122"/>
                <a:cs typeface="Inter" pitchFamily="34" charset="-120"/>
              </a:rPr>
              <a:t>UAT CoE</a:t>
            </a:r>
            <a:endParaRPr lang="en-US" sz="1200" dirty="0"/>
          </a:p>
        </p:txBody>
      </p:sp>
      <p:sp>
        <p:nvSpPr>
          <p:cNvPr id="15" name="Text 13"/>
          <p:cNvSpPr/>
          <p:nvPr/>
        </p:nvSpPr>
        <p:spPr>
          <a:xfrm>
            <a:off x="11292929" y="6238280"/>
            <a:ext cx="1370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C"/>
                </a:solidFill>
                <a:latin typeface="Inter" pitchFamily="34" charset="0"/>
                <a:ea typeface="Inter" pitchFamily="34" charset="-122"/>
                <a:cs typeface="Inter"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812800" y="812800"/>
            <a:ext cx="3556000" cy="5029200"/>
          </a:xfrm>
          <a:prstGeom prst="roundRect">
            <a:avLst>
              <a:gd name="adj" fmla="val 4286"/>
            </a:avLst>
          </a:prstGeom>
          <a:solidFill>
            <a:srgbClr val="0F2238"/>
          </a:solidFill>
          <a:ln/>
        </p:spPr>
      </p:sp>
      <p:sp>
        <p:nvSpPr>
          <p:cNvPr id="3" name="Text 1"/>
          <p:cNvSpPr/>
          <p:nvPr/>
        </p:nvSpPr>
        <p:spPr>
          <a:xfrm>
            <a:off x="1117600" y="2286050"/>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D9CC"/>
                </a:solidFill>
                <a:latin typeface="Inter" pitchFamily="34" charset="0"/>
                <a:ea typeface="Inter" pitchFamily="34" charset="-122"/>
                <a:cs typeface="Inter" pitchFamily="34" charset="-120"/>
              </a:rPr>
              <a:t>PILLAR 03</a:t>
            </a:r>
            <a:endParaRPr lang="en-US" sz="1200" dirty="0"/>
          </a:p>
        </p:txBody>
      </p:sp>
      <p:sp>
        <p:nvSpPr>
          <p:cNvPr id="4" name="Text 2"/>
          <p:cNvSpPr/>
          <p:nvPr>
            <p:ph type="title"/>
          </p:nvPr>
        </p:nvSpPr>
        <p:spPr>
          <a:xfrm>
            <a:off x="1117600" y="2651770"/>
            <a:ext cx="30347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FBFBF9"/>
                </a:solidFill>
                <a:latin typeface="Space Grotesk" pitchFamily="34" charset="0"/>
                <a:ea typeface="Space Grotesk" pitchFamily="34" charset="-122"/>
                <a:cs typeface="Space Grotesk" pitchFamily="34" charset="-120"/>
              </a:rPr>
              <a:t>Technology &amp; Platform Fit</a:t>
            </a:r>
            <a:endParaRPr lang="en-US" sz="2800" dirty="0"/>
          </a:p>
        </p:txBody>
      </p:sp>
      <p:sp>
        <p:nvSpPr>
          <p:cNvPr id="5" name="Text 3"/>
          <p:cNvSpPr/>
          <p:nvPr/>
        </p:nvSpPr>
        <p:spPr>
          <a:xfrm>
            <a:off x="1117600" y="3622030"/>
            <a:ext cx="303479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7C2CC"/>
                </a:solidFill>
                <a:latin typeface="Inter" pitchFamily="34" charset="0"/>
                <a:ea typeface="Inter" pitchFamily="34" charset="-122"/>
                <a:cs typeface="Inter" pitchFamily="34" charset="-120"/>
              </a:rPr>
              <a:t>Which discipline, tools, and platforms actually apply to this application?</a:t>
            </a:r>
            <a:endParaRPr lang="en-US" sz="1400" dirty="0"/>
          </a:p>
        </p:txBody>
      </p:sp>
      <p:sp>
        <p:nvSpPr>
          <p:cNvPr id="6" name="Text 4"/>
          <p:cNvSpPr/>
          <p:nvPr/>
        </p:nvSpPr>
        <p:spPr>
          <a:xfrm>
            <a:off x="4775200" y="2125464"/>
            <a:ext cx="304800" cy="304800"/>
          </a:xfrm>
          <a:prstGeom prst="roundRect">
            <a:avLst>
              <a:gd name="adj" fmla="val 50000"/>
            </a:avLst>
          </a:prstGeom>
          <a:solidFill>
            <a:srgbClr val="E8F6F3"/>
          </a:solidFill>
          <a:ln/>
        </p:spPr>
        <p:txBody>
          <a:bodyPr wrap="square" lIns="0" tIns="0" rIns="0" bIns="0" rtlCol="0" anchor="ctr">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1</a:t>
            </a:r>
            <a:endParaRPr lang="en-US" sz="1200" dirty="0"/>
          </a:p>
        </p:txBody>
      </p:sp>
      <p:sp>
        <p:nvSpPr>
          <p:cNvPr id="7" name="Text 5"/>
          <p:cNvSpPr/>
          <p:nvPr/>
        </p:nvSpPr>
        <p:spPr>
          <a:xfrm>
            <a:off x="5207000" y="2125464"/>
            <a:ext cx="635736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212C"/>
                </a:solidFill>
                <a:latin typeface="Inter" pitchFamily="34" charset="0"/>
                <a:ea typeface="Inter" pitchFamily="34" charset="-122"/>
                <a:cs typeface="Inter" pitchFamily="34" charset="-120"/>
              </a:rPr>
              <a:t>Map the application to a supported discipline — Web, API, Desktop (AG), or Mainframe (BETA, Hogan)</a:t>
            </a:r>
            <a:endParaRPr lang="en-US" sz="1300" dirty="0"/>
          </a:p>
        </p:txBody>
      </p:sp>
      <p:sp>
        <p:nvSpPr>
          <p:cNvPr id="8" name="Text 6"/>
          <p:cNvSpPr/>
          <p:nvPr/>
        </p:nvSpPr>
        <p:spPr>
          <a:xfrm>
            <a:off x="4775200" y="2685455"/>
            <a:ext cx="304800" cy="304800"/>
          </a:xfrm>
          <a:prstGeom prst="roundRect">
            <a:avLst>
              <a:gd name="adj" fmla="val 50000"/>
            </a:avLst>
          </a:prstGeom>
          <a:solidFill>
            <a:srgbClr val="E8F6F3"/>
          </a:solidFill>
          <a:ln/>
        </p:spPr>
        <p:txBody>
          <a:bodyPr wrap="square" lIns="0" tIns="0" rIns="0" bIns="0" rtlCol="0" anchor="ctr">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2</a:t>
            </a:r>
            <a:endParaRPr lang="en-US" sz="1200" dirty="0"/>
          </a:p>
        </p:txBody>
      </p:sp>
      <p:sp>
        <p:nvSpPr>
          <p:cNvPr id="9" name="Text 7"/>
          <p:cNvSpPr/>
          <p:nvPr/>
        </p:nvSpPr>
        <p:spPr>
          <a:xfrm>
            <a:off x="5207000" y="2685455"/>
            <a:ext cx="635736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212C"/>
                </a:solidFill>
                <a:latin typeface="Inter" pitchFamily="34" charset="0"/>
                <a:ea typeface="Inter" pitchFamily="34" charset="-122"/>
                <a:cs typeface="Inter" pitchFamily="34" charset="-120"/>
              </a:rPr>
              <a:t>Select the right tooling — Selenium or Playwright, REST Assured, or specialized desktop/mainframe automation</a:t>
            </a:r>
            <a:endParaRPr lang="en-US" sz="1300" dirty="0"/>
          </a:p>
        </p:txBody>
      </p:sp>
      <p:sp>
        <p:nvSpPr>
          <p:cNvPr id="10" name="Text 8"/>
          <p:cNvSpPr/>
          <p:nvPr/>
        </p:nvSpPr>
        <p:spPr>
          <a:xfrm>
            <a:off x="4775200" y="3245445"/>
            <a:ext cx="304800" cy="304800"/>
          </a:xfrm>
          <a:prstGeom prst="roundRect">
            <a:avLst>
              <a:gd name="adj" fmla="val 50000"/>
            </a:avLst>
          </a:prstGeom>
          <a:solidFill>
            <a:srgbClr val="E8F6F3"/>
          </a:solidFill>
          <a:ln/>
        </p:spPr>
        <p:txBody>
          <a:bodyPr wrap="square" lIns="0" tIns="0" rIns="0" bIns="0" rtlCol="0" anchor="ctr">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3</a:t>
            </a:r>
            <a:endParaRPr lang="en-US" sz="1200" dirty="0"/>
          </a:p>
        </p:txBody>
      </p:sp>
      <p:sp>
        <p:nvSpPr>
          <p:cNvPr id="11" name="Text 9"/>
          <p:cNvSpPr/>
          <p:nvPr/>
        </p:nvSpPr>
        <p:spPr>
          <a:xfrm>
            <a:off x="5207000" y="3245445"/>
            <a:ext cx="635736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212C"/>
                </a:solidFill>
                <a:latin typeface="Inter" pitchFamily="34" charset="0"/>
                <a:ea typeface="Inter" pitchFamily="34" charset="-122"/>
                <a:cs typeface="Inter" pitchFamily="34" charset="-120"/>
              </a:rPr>
              <a:t>Confirm CI/CD and integration touchpoints</a:t>
            </a:r>
            <a:endParaRPr lang="en-US" sz="1300" dirty="0"/>
          </a:p>
        </p:txBody>
      </p:sp>
      <p:sp>
        <p:nvSpPr>
          <p:cNvPr id="12" name="Text 10"/>
          <p:cNvSpPr/>
          <p:nvPr/>
        </p:nvSpPr>
        <p:spPr>
          <a:xfrm>
            <a:off x="4775200" y="3664545"/>
            <a:ext cx="304800" cy="304800"/>
          </a:xfrm>
          <a:prstGeom prst="roundRect">
            <a:avLst>
              <a:gd name="adj" fmla="val 50000"/>
            </a:avLst>
          </a:prstGeom>
          <a:solidFill>
            <a:srgbClr val="E8F6F3"/>
          </a:solidFill>
          <a:ln/>
        </p:spPr>
        <p:txBody>
          <a:bodyPr wrap="square" lIns="0" tIns="0" rIns="0" bIns="0" rtlCol="0" anchor="ctr">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4</a:t>
            </a:r>
            <a:endParaRPr lang="en-US" sz="1200" dirty="0"/>
          </a:p>
        </p:txBody>
      </p:sp>
      <p:sp>
        <p:nvSpPr>
          <p:cNvPr id="13" name="Text 11"/>
          <p:cNvSpPr/>
          <p:nvPr/>
        </p:nvSpPr>
        <p:spPr>
          <a:xfrm>
            <a:off x="5207000" y="3664545"/>
            <a:ext cx="635736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212C"/>
                </a:solidFill>
                <a:latin typeface="Inter" pitchFamily="34" charset="0"/>
                <a:ea typeface="Inter" pitchFamily="34" charset="-122"/>
                <a:cs typeface="Inter" pitchFamily="34" charset="-120"/>
              </a:rPr>
              <a:t>Verify compatibility with HyperExecute and Octane</a:t>
            </a:r>
            <a:endParaRPr lang="en-US" sz="1300" dirty="0"/>
          </a:p>
        </p:txBody>
      </p:sp>
      <p:sp>
        <p:nvSpPr>
          <p:cNvPr id="14" name="Text 12"/>
          <p:cNvSpPr/>
          <p:nvPr/>
        </p:nvSpPr>
        <p:spPr>
          <a:xfrm>
            <a:off x="4775200" y="4083645"/>
            <a:ext cx="304800" cy="304800"/>
          </a:xfrm>
          <a:prstGeom prst="roundRect">
            <a:avLst>
              <a:gd name="adj" fmla="val 50000"/>
            </a:avLst>
          </a:prstGeom>
          <a:solidFill>
            <a:srgbClr val="E8F6F3"/>
          </a:solidFill>
          <a:ln/>
        </p:spPr>
        <p:txBody>
          <a:bodyPr wrap="square" lIns="0" tIns="0" rIns="0" bIns="0" rtlCol="0" anchor="ctr">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5</a:t>
            </a:r>
            <a:endParaRPr lang="en-US" sz="1200" dirty="0"/>
          </a:p>
        </p:txBody>
      </p:sp>
      <p:sp>
        <p:nvSpPr>
          <p:cNvPr id="15" name="Text 13"/>
          <p:cNvSpPr/>
          <p:nvPr/>
        </p:nvSpPr>
        <p:spPr>
          <a:xfrm>
            <a:off x="5207000" y="4083645"/>
            <a:ext cx="635736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212C"/>
                </a:solidFill>
                <a:latin typeface="Inter" pitchFamily="34" charset="0"/>
                <a:ea typeface="Inter" pitchFamily="34" charset="-122"/>
                <a:cs typeface="Inter" pitchFamily="34" charset="-120"/>
              </a:rPr>
              <a:t>Flag special dependencies — third-party integrations, terminal emulators, legacy interfaces</a:t>
            </a:r>
            <a:endParaRPr lang="en-US" sz="1300" dirty="0"/>
          </a:p>
        </p:txBody>
      </p:sp>
      <p:sp>
        <p:nvSpPr>
          <p:cNvPr id="16" name="Text 14"/>
          <p:cNvSpPr/>
          <p:nvPr/>
        </p:nvSpPr>
        <p:spPr>
          <a:xfrm>
            <a:off x="812800" y="6238280"/>
            <a:ext cx="7658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C"/>
                </a:solidFill>
                <a:latin typeface="Inter" pitchFamily="34" charset="0"/>
                <a:ea typeface="Inter" pitchFamily="34" charset="-122"/>
                <a:cs typeface="Inter" pitchFamily="34" charset="-120"/>
              </a:rPr>
              <a:t>UAT CoE</a:t>
            </a:r>
            <a:endParaRPr lang="en-US" sz="1200" dirty="0"/>
          </a:p>
        </p:txBody>
      </p:sp>
      <p:sp>
        <p:nvSpPr>
          <p:cNvPr id="17" name="Text 15"/>
          <p:cNvSpPr/>
          <p:nvPr/>
        </p:nvSpPr>
        <p:spPr>
          <a:xfrm>
            <a:off x="11284893" y="6238280"/>
            <a:ext cx="145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C"/>
                </a:solidFill>
                <a:latin typeface="Inter" pitchFamily="34" charset="0"/>
                <a:ea typeface="Inter" pitchFamily="34" charset="-122"/>
                <a:cs typeface="Inter"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812800" y="812800"/>
            <a:ext cx="3556000" cy="5029200"/>
          </a:xfrm>
          <a:prstGeom prst="roundRect">
            <a:avLst>
              <a:gd name="adj" fmla="val 4286"/>
            </a:avLst>
          </a:prstGeom>
          <a:solidFill>
            <a:srgbClr val="0F2238"/>
          </a:solidFill>
          <a:ln/>
        </p:spPr>
      </p:sp>
      <p:sp>
        <p:nvSpPr>
          <p:cNvPr id="3" name="Text 1"/>
          <p:cNvSpPr/>
          <p:nvPr/>
        </p:nvSpPr>
        <p:spPr>
          <a:xfrm>
            <a:off x="1117600" y="2410520"/>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D9CC"/>
                </a:solidFill>
                <a:latin typeface="Inter" pitchFamily="34" charset="0"/>
                <a:ea typeface="Inter" pitchFamily="34" charset="-122"/>
                <a:cs typeface="Inter" pitchFamily="34" charset="-120"/>
              </a:rPr>
              <a:t>PILLAR 04</a:t>
            </a:r>
            <a:endParaRPr lang="en-US" sz="1200" dirty="0"/>
          </a:p>
        </p:txBody>
      </p:sp>
      <p:sp>
        <p:nvSpPr>
          <p:cNvPr id="4" name="Text 2"/>
          <p:cNvSpPr/>
          <p:nvPr>
            <p:ph type="title"/>
          </p:nvPr>
        </p:nvSpPr>
        <p:spPr>
          <a:xfrm>
            <a:off x="1117600" y="2776240"/>
            <a:ext cx="30347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FBFBF9"/>
                </a:solidFill>
                <a:latin typeface="Space Grotesk" pitchFamily="34" charset="0"/>
                <a:ea typeface="Space Grotesk" pitchFamily="34" charset="-122"/>
                <a:cs typeface="Space Grotesk" pitchFamily="34" charset="-120"/>
              </a:rPr>
              <a:t>Effort, Timeline &amp; Go/No-Go</a:t>
            </a:r>
            <a:endParaRPr lang="en-US" sz="2800" dirty="0"/>
          </a:p>
        </p:txBody>
      </p:sp>
      <p:sp>
        <p:nvSpPr>
          <p:cNvPr id="5" name="Text 3"/>
          <p:cNvSpPr/>
          <p:nvPr/>
        </p:nvSpPr>
        <p:spPr>
          <a:xfrm>
            <a:off x="1117600" y="3746500"/>
            <a:ext cx="30347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7C2CC"/>
                </a:solidFill>
                <a:latin typeface="Inter" pitchFamily="34" charset="0"/>
                <a:ea typeface="Inter" pitchFamily="34" charset="-122"/>
                <a:cs typeface="Inter" pitchFamily="34" charset="-120"/>
              </a:rPr>
              <a:t>What's the plan, what will it take, and is it worth doing now?</a:t>
            </a:r>
            <a:endParaRPr lang="en-US" sz="1400" dirty="0"/>
          </a:p>
        </p:txBody>
      </p:sp>
      <p:sp>
        <p:nvSpPr>
          <p:cNvPr id="6" name="Text 4"/>
          <p:cNvSpPr/>
          <p:nvPr/>
        </p:nvSpPr>
        <p:spPr>
          <a:xfrm>
            <a:off x="4775200" y="2527300"/>
            <a:ext cx="304800" cy="304800"/>
          </a:xfrm>
          <a:prstGeom prst="roundRect">
            <a:avLst>
              <a:gd name="adj" fmla="val 50000"/>
            </a:avLst>
          </a:prstGeom>
          <a:solidFill>
            <a:srgbClr val="E8F6F3"/>
          </a:solidFill>
          <a:ln/>
        </p:spPr>
        <p:txBody>
          <a:bodyPr wrap="square" lIns="0" tIns="0" rIns="0" bIns="0" rtlCol="0" anchor="ctr">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1</a:t>
            </a:r>
            <a:endParaRPr lang="en-US" sz="1200" dirty="0"/>
          </a:p>
        </p:txBody>
      </p:sp>
      <p:sp>
        <p:nvSpPr>
          <p:cNvPr id="7" name="Text 5"/>
          <p:cNvSpPr/>
          <p:nvPr/>
        </p:nvSpPr>
        <p:spPr>
          <a:xfrm>
            <a:off x="5207000" y="2527300"/>
            <a:ext cx="69850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2C"/>
                </a:solidFill>
                <a:latin typeface="Inter" pitchFamily="34" charset="0"/>
                <a:ea typeface="Inter" pitchFamily="34" charset="-122"/>
                <a:cs typeface="Inter" pitchFamily="34" charset="-120"/>
              </a:rPr>
              <a:t>Estimate effort for framework setup, script development, and stabilization</a:t>
            </a:r>
            <a:endParaRPr lang="en-US" sz="1400" dirty="0"/>
          </a:p>
        </p:txBody>
      </p:sp>
      <p:sp>
        <p:nvSpPr>
          <p:cNvPr id="8" name="Text 6"/>
          <p:cNvSpPr/>
          <p:nvPr/>
        </p:nvSpPr>
        <p:spPr>
          <a:xfrm>
            <a:off x="4775200" y="2959100"/>
            <a:ext cx="304800" cy="304800"/>
          </a:xfrm>
          <a:prstGeom prst="roundRect">
            <a:avLst>
              <a:gd name="adj" fmla="val 50000"/>
            </a:avLst>
          </a:prstGeom>
          <a:solidFill>
            <a:srgbClr val="E8F6F3"/>
          </a:solidFill>
          <a:ln/>
        </p:spPr>
        <p:txBody>
          <a:bodyPr wrap="square" lIns="0" tIns="0" rIns="0" bIns="0" rtlCol="0" anchor="ctr">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2</a:t>
            </a:r>
            <a:endParaRPr lang="en-US" sz="1200" dirty="0"/>
          </a:p>
        </p:txBody>
      </p:sp>
      <p:sp>
        <p:nvSpPr>
          <p:cNvPr id="9" name="Text 7"/>
          <p:cNvSpPr/>
          <p:nvPr/>
        </p:nvSpPr>
        <p:spPr>
          <a:xfrm>
            <a:off x="5207000" y="2959100"/>
            <a:ext cx="635736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2C"/>
                </a:solidFill>
                <a:latin typeface="Inter" pitchFamily="34" charset="0"/>
                <a:ea typeface="Inter" pitchFamily="34" charset="-122"/>
                <a:cs typeface="Inter" pitchFamily="34" charset="-120"/>
              </a:rPr>
              <a:t>Define a rollout timeline and resourcing plan</a:t>
            </a:r>
            <a:endParaRPr lang="en-US" sz="1400" dirty="0"/>
          </a:p>
        </p:txBody>
      </p:sp>
      <p:sp>
        <p:nvSpPr>
          <p:cNvPr id="10" name="Text 8"/>
          <p:cNvSpPr/>
          <p:nvPr/>
        </p:nvSpPr>
        <p:spPr>
          <a:xfrm>
            <a:off x="4775200" y="3390900"/>
            <a:ext cx="304800" cy="304800"/>
          </a:xfrm>
          <a:prstGeom prst="roundRect">
            <a:avLst>
              <a:gd name="adj" fmla="val 50000"/>
            </a:avLst>
          </a:prstGeom>
          <a:solidFill>
            <a:srgbClr val="E8F6F3"/>
          </a:solidFill>
          <a:ln/>
        </p:spPr>
        <p:txBody>
          <a:bodyPr wrap="square" lIns="0" tIns="0" rIns="0" bIns="0" rtlCol="0" anchor="ctr">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3</a:t>
            </a:r>
            <a:endParaRPr lang="en-US" sz="1200" dirty="0"/>
          </a:p>
        </p:txBody>
      </p:sp>
      <p:sp>
        <p:nvSpPr>
          <p:cNvPr id="11" name="Text 9"/>
          <p:cNvSpPr/>
          <p:nvPr/>
        </p:nvSpPr>
        <p:spPr>
          <a:xfrm>
            <a:off x="5207000" y="3390900"/>
            <a:ext cx="635736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2C"/>
                </a:solidFill>
                <a:latin typeface="Inter" pitchFamily="34" charset="0"/>
                <a:ea typeface="Inter" pitchFamily="34" charset="-122"/>
                <a:cs typeface="Inter" pitchFamily="34" charset="-120"/>
              </a:rPr>
              <a:t>Identify risks and dependencies upfront</a:t>
            </a:r>
            <a:endParaRPr lang="en-US" sz="1400" dirty="0"/>
          </a:p>
        </p:txBody>
      </p:sp>
      <p:sp>
        <p:nvSpPr>
          <p:cNvPr id="12" name="Text 10"/>
          <p:cNvSpPr/>
          <p:nvPr/>
        </p:nvSpPr>
        <p:spPr>
          <a:xfrm>
            <a:off x="4775200" y="3822700"/>
            <a:ext cx="304800" cy="304800"/>
          </a:xfrm>
          <a:prstGeom prst="roundRect">
            <a:avLst>
              <a:gd name="adj" fmla="val 50000"/>
            </a:avLst>
          </a:prstGeom>
          <a:solidFill>
            <a:srgbClr val="E8F6F3"/>
          </a:solidFill>
          <a:ln/>
        </p:spPr>
        <p:txBody>
          <a:bodyPr wrap="square" lIns="0" tIns="0" rIns="0" bIns="0" rtlCol="0" anchor="ctr">
            <a:normAutofit/>
          </a:bodyPr>
          <a:lstStyle/>
          <a:p>
            <a:pPr algn="ctr" indent="0" marL="0">
              <a:lnSpc>
                <a:spcPts val="1680"/>
              </a:lnSpc>
              <a:buNone/>
            </a:pPr>
            <a:r>
              <a:rPr lang="en-US" sz="1200" b="1" dirty="0">
                <a:solidFill>
                  <a:srgbClr val="2BB3A3"/>
                </a:solidFill>
                <a:latin typeface="Inter" pitchFamily="34" charset="0"/>
                <a:ea typeface="Inter" pitchFamily="34" charset="-122"/>
                <a:cs typeface="Inter" pitchFamily="34" charset="-120"/>
              </a:rPr>
              <a:t>4</a:t>
            </a:r>
            <a:endParaRPr lang="en-US" sz="1200" dirty="0"/>
          </a:p>
        </p:txBody>
      </p:sp>
      <p:sp>
        <p:nvSpPr>
          <p:cNvPr id="13" name="Text 11"/>
          <p:cNvSpPr/>
          <p:nvPr/>
        </p:nvSpPr>
        <p:spPr>
          <a:xfrm>
            <a:off x="5207000" y="3822700"/>
            <a:ext cx="635736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2C"/>
                </a:solidFill>
                <a:latin typeface="Inter" pitchFamily="34" charset="0"/>
                <a:ea typeface="Inter" pitchFamily="34" charset="-122"/>
                <a:cs typeface="Inter" pitchFamily="34" charset="-120"/>
              </a:rPr>
              <a:t>Issue a formal Go / No-Go recommendation with a roadmap</a:t>
            </a:r>
            <a:endParaRPr lang="en-US" sz="1400" dirty="0"/>
          </a:p>
        </p:txBody>
      </p:sp>
      <p:sp>
        <p:nvSpPr>
          <p:cNvPr id="14" name="Text 12"/>
          <p:cNvSpPr/>
          <p:nvPr/>
        </p:nvSpPr>
        <p:spPr>
          <a:xfrm>
            <a:off x="812800" y="6238280"/>
            <a:ext cx="7658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C"/>
                </a:solidFill>
                <a:latin typeface="Inter" pitchFamily="34" charset="0"/>
                <a:ea typeface="Inter" pitchFamily="34" charset="-122"/>
                <a:cs typeface="Inter" pitchFamily="34" charset="-120"/>
              </a:rPr>
              <a:t>UAT CoE</a:t>
            </a:r>
            <a:endParaRPr lang="en-US" sz="1200" dirty="0"/>
          </a:p>
        </p:txBody>
      </p:sp>
      <p:sp>
        <p:nvSpPr>
          <p:cNvPr id="15" name="Text 13"/>
          <p:cNvSpPr/>
          <p:nvPr/>
        </p:nvSpPr>
        <p:spPr>
          <a:xfrm>
            <a:off x="11284694" y="6238280"/>
            <a:ext cx="145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C"/>
                </a:solidFill>
                <a:latin typeface="Inter" pitchFamily="34" charset="0"/>
                <a:ea typeface="Inter" pitchFamily="34" charset="-122"/>
                <a:cs typeface="Inter"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0F2238"/>
                </a:solidFill>
                <a:latin typeface="Space Grotesk" pitchFamily="34" charset="0"/>
                <a:ea typeface="Space Grotesk" pitchFamily="34" charset="-122"/>
                <a:cs typeface="Space Grotesk" pitchFamily="34" charset="-120"/>
              </a:rPr>
              <a:t>Technology Stack &amp; Enablement Platforms</a:t>
            </a:r>
            <a:endParaRPr lang="en-US" sz="3600" dirty="0"/>
          </a:p>
        </p:txBody>
      </p:sp>
      <p:sp>
        <p:nvSpPr>
          <p:cNvPr id="3" name="Text 1"/>
          <p:cNvSpPr/>
          <p:nvPr/>
        </p:nvSpPr>
        <p:spPr>
          <a:xfrm>
            <a:off x="812800" y="159256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C6B78"/>
                </a:solidFill>
                <a:latin typeface="Inter" pitchFamily="34" charset="0"/>
                <a:ea typeface="Inter" pitchFamily="34" charset="-122"/>
                <a:cs typeface="Inter" pitchFamily="34" charset="-120"/>
              </a:rPr>
              <a:t>The tools and platforms behind every automation discipline</a:t>
            </a:r>
            <a:endParaRPr lang="en-US" sz="1400" dirty="0"/>
          </a:p>
        </p:txBody>
      </p:sp>
      <p:sp>
        <p:nvSpPr>
          <p:cNvPr id="4" name="Shape 2"/>
          <p:cNvSpPr/>
          <p:nvPr/>
        </p:nvSpPr>
        <p:spPr>
          <a:xfrm>
            <a:off x="815975" y="2098625"/>
            <a:ext cx="2520950" cy="2830909"/>
          </a:xfrm>
          <a:prstGeom prst="roundRect">
            <a:avLst>
              <a:gd name="adj" fmla="val 3904"/>
            </a:avLst>
          </a:prstGeom>
          <a:solidFill>
            <a:srgbClr val="FFFFFF"/>
          </a:solidFill>
          <a:ln w="6350">
            <a:solidFill>
              <a:srgbClr val="E2E6E9"/>
            </a:solidFill>
            <a:prstDash val="solid"/>
          </a:ln>
        </p:spPr>
      </p:sp>
      <p:sp>
        <p:nvSpPr>
          <p:cNvPr id="5" name="Text 3"/>
          <p:cNvSpPr/>
          <p:nvPr/>
        </p:nvSpPr>
        <p:spPr>
          <a:xfrm>
            <a:off x="1073150" y="2355800"/>
            <a:ext cx="206679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2238"/>
                </a:solidFill>
                <a:latin typeface="Inter" pitchFamily="34" charset="0"/>
                <a:ea typeface="Inter" pitchFamily="34" charset="-122"/>
                <a:cs typeface="Inter" pitchFamily="34" charset="-120"/>
              </a:rPr>
              <a:t>Automation Tools</a:t>
            </a:r>
            <a:endParaRPr lang="en-US" sz="1400" dirty="0"/>
          </a:p>
        </p:txBody>
      </p:sp>
      <p:sp>
        <p:nvSpPr>
          <p:cNvPr id="6" name="Text 4"/>
          <p:cNvSpPr/>
          <p:nvPr/>
        </p:nvSpPr>
        <p:spPr>
          <a:xfrm>
            <a:off x="1073150" y="2670721"/>
            <a:ext cx="20667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8"/>
                </a:solidFill>
                <a:latin typeface="Inter" pitchFamily="34" charset="0"/>
                <a:ea typeface="Inter" pitchFamily="34" charset="-122"/>
                <a:cs typeface="Inter" pitchFamily="34" charset="-120"/>
              </a:rPr>
              <a:t>Selenium, Playwright, REST Assured</a:t>
            </a:r>
            <a:endParaRPr lang="en-US" sz="1200" dirty="0"/>
          </a:p>
        </p:txBody>
      </p:sp>
      <p:sp>
        <p:nvSpPr>
          <p:cNvPr id="7" name="Shape 5"/>
          <p:cNvSpPr/>
          <p:nvPr/>
        </p:nvSpPr>
        <p:spPr>
          <a:xfrm>
            <a:off x="3495675" y="2098625"/>
            <a:ext cx="2520950" cy="2830909"/>
          </a:xfrm>
          <a:prstGeom prst="roundRect">
            <a:avLst>
              <a:gd name="adj" fmla="val 3904"/>
            </a:avLst>
          </a:prstGeom>
          <a:solidFill>
            <a:srgbClr val="FFFFFF"/>
          </a:solidFill>
          <a:ln w="6350">
            <a:solidFill>
              <a:srgbClr val="E2E6E9"/>
            </a:solidFill>
            <a:prstDash val="solid"/>
          </a:ln>
        </p:spPr>
      </p:sp>
      <p:sp>
        <p:nvSpPr>
          <p:cNvPr id="8" name="Text 6"/>
          <p:cNvSpPr/>
          <p:nvPr/>
        </p:nvSpPr>
        <p:spPr>
          <a:xfrm>
            <a:off x="3752850" y="2355800"/>
            <a:ext cx="206679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2238"/>
                </a:solidFill>
                <a:latin typeface="Inter" pitchFamily="34" charset="0"/>
                <a:ea typeface="Inter" pitchFamily="34" charset="-122"/>
                <a:cs typeface="Inter" pitchFamily="34" charset="-120"/>
              </a:rPr>
              <a:t>Languages</a:t>
            </a:r>
            <a:endParaRPr lang="en-US" sz="1400" dirty="0"/>
          </a:p>
        </p:txBody>
      </p:sp>
      <p:sp>
        <p:nvSpPr>
          <p:cNvPr id="9" name="Text 7"/>
          <p:cNvSpPr/>
          <p:nvPr/>
        </p:nvSpPr>
        <p:spPr>
          <a:xfrm>
            <a:off x="3752850" y="2670721"/>
            <a:ext cx="20667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8"/>
                </a:solidFill>
                <a:latin typeface="Inter" pitchFamily="34" charset="0"/>
                <a:ea typeface="Inter" pitchFamily="34" charset="-122"/>
                <a:cs typeface="Inter" pitchFamily="34" charset="-120"/>
              </a:rPr>
              <a:t>Java, TypeScript</a:t>
            </a:r>
            <a:endParaRPr lang="en-US" sz="1200" dirty="0"/>
          </a:p>
        </p:txBody>
      </p:sp>
      <p:sp>
        <p:nvSpPr>
          <p:cNvPr id="10" name="Shape 8"/>
          <p:cNvSpPr/>
          <p:nvPr/>
        </p:nvSpPr>
        <p:spPr>
          <a:xfrm>
            <a:off x="6175375" y="2098625"/>
            <a:ext cx="2520950" cy="2830909"/>
          </a:xfrm>
          <a:prstGeom prst="roundRect">
            <a:avLst>
              <a:gd name="adj" fmla="val 3904"/>
            </a:avLst>
          </a:prstGeom>
          <a:solidFill>
            <a:srgbClr val="FFFFFF"/>
          </a:solidFill>
          <a:ln w="6350">
            <a:solidFill>
              <a:srgbClr val="E2E6E9"/>
            </a:solidFill>
            <a:prstDash val="solid"/>
          </a:ln>
        </p:spPr>
      </p:sp>
      <p:sp>
        <p:nvSpPr>
          <p:cNvPr id="11" name="Text 9"/>
          <p:cNvSpPr/>
          <p:nvPr/>
        </p:nvSpPr>
        <p:spPr>
          <a:xfrm>
            <a:off x="6432550" y="2355800"/>
            <a:ext cx="206679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2238"/>
                </a:solidFill>
                <a:latin typeface="Inter" pitchFamily="34" charset="0"/>
                <a:ea typeface="Inter" pitchFamily="34" charset="-122"/>
                <a:cs typeface="Inter" pitchFamily="34" charset="-120"/>
              </a:rPr>
              <a:t>Remote Execution</a:t>
            </a:r>
            <a:endParaRPr lang="en-US" sz="1400" dirty="0"/>
          </a:p>
        </p:txBody>
      </p:sp>
      <p:sp>
        <p:nvSpPr>
          <p:cNvPr id="12" name="Text 10"/>
          <p:cNvSpPr/>
          <p:nvPr/>
        </p:nvSpPr>
        <p:spPr>
          <a:xfrm>
            <a:off x="6432550" y="2670721"/>
            <a:ext cx="206679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8"/>
                </a:solidFill>
                <a:latin typeface="Inter" pitchFamily="34" charset="0"/>
                <a:ea typeface="Inter" pitchFamily="34" charset="-122"/>
                <a:cs typeface="Inter" pitchFamily="34" charset="-120"/>
              </a:rPr>
              <a:t>HyperExecute — a scalable cross-browser, cross-device execution grid</a:t>
            </a:r>
            <a:endParaRPr lang="en-US" sz="1200" dirty="0"/>
          </a:p>
        </p:txBody>
      </p:sp>
      <p:sp>
        <p:nvSpPr>
          <p:cNvPr id="13" name="Shape 11"/>
          <p:cNvSpPr/>
          <p:nvPr/>
        </p:nvSpPr>
        <p:spPr>
          <a:xfrm>
            <a:off x="8855075" y="2098625"/>
            <a:ext cx="2520950" cy="2830909"/>
          </a:xfrm>
          <a:prstGeom prst="roundRect">
            <a:avLst>
              <a:gd name="adj" fmla="val 3904"/>
            </a:avLst>
          </a:prstGeom>
          <a:solidFill>
            <a:srgbClr val="FFFFFF"/>
          </a:solidFill>
          <a:ln w="6350">
            <a:solidFill>
              <a:srgbClr val="E2E6E9"/>
            </a:solidFill>
            <a:prstDash val="solid"/>
          </a:ln>
        </p:spPr>
      </p:sp>
      <p:sp>
        <p:nvSpPr>
          <p:cNvPr id="14" name="Text 12"/>
          <p:cNvSpPr/>
          <p:nvPr/>
        </p:nvSpPr>
        <p:spPr>
          <a:xfrm>
            <a:off x="9112250" y="2355800"/>
            <a:ext cx="206679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2238"/>
                </a:solidFill>
                <a:latin typeface="Inter" pitchFamily="34" charset="0"/>
                <a:ea typeface="Inter" pitchFamily="34" charset="-122"/>
                <a:cs typeface="Inter" pitchFamily="34" charset="-120"/>
              </a:rPr>
              <a:t>Test Management</a:t>
            </a:r>
            <a:endParaRPr lang="en-US" sz="1400" dirty="0"/>
          </a:p>
        </p:txBody>
      </p:sp>
      <p:sp>
        <p:nvSpPr>
          <p:cNvPr id="15" name="Text 13"/>
          <p:cNvSpPr/>
          <p:nvPr/>
        </p:nvSpPr>
        <p:spPr>
          <a:xfrm>
            <a:off x="9112250" y="2670721"/>
            <a:ext cx="206679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78"/>
                </a:solidFill>
                <a:latin typeface="Inter" pitchFamily="34" charset="0"/>
                <a:ea typeface="Inter" pitchFamily="34" charset="-122"/>
                <a:cs typeface="Inter" pitchFamily="34" charset="-120"/>
              </a:rPr>
              <a:t>Octane — planning, execution tracking, and reporting</a:t>
            </a:r>
            <a:endParaRPr lang="en-US" sz="1200" dirty="0"/>
          </a:p>
        </p:txBody>
      </p:sp>
      <p:sp>
        <p:nvSpPr>
          <p:cNvPr id="16" name="Shape 14"/>
          <p:cNvSpPr/>
          <p:nvPr/>
        </p:nvSpPr>
        <p:spPr>
          <a:xfrm>
            <a:off x="812800" y="5186710"/>
            <a:ext cx="10566400" cy="655290"/>
          </a:xfrm>
          <a:prstGeom prst="roundRect">
            <a:avLst>
              <a:gd name="adj" fmla="val 15505"/>
            </a:avLst>
          </a:prstGeom>
          <a:solidFill>
            <a:srgbClr val="0F2238"/>
          </a:solidFill>
          <a:ln/>
        </p:spPr>
      </p:sp>
      <p:sp>
        <p:nvSpPr>
          <p:cNvPr id="17" name="Text 15"/>
          <p:cNvSpPr/>
          <p:nvPr/>
        </p:nvSpPr>
        <p:spPr>
          <a:xfrm>
            <a:off x="1016000" y="5389910"/>
            <a:ext cx="147860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FD9CC"/>
                </a:solidFill>
                <a:latin typeface="Inter" pitchFamily="34" charset="0"/>
                <a:ea typeface="Inter" pitchFamily="34" charset="-122"/>
                <a:cs typeface="Inter" pitchFamily="34" charset="-120"/>
              </a:rPr>
              <a:t>STANDARDIZED</a:t>
            </a:r>
            <a:endParaRPr lang="en-US" sz="1400" dirty="0"/>
          </a:p>
        </p:txBody>
      </p:sp>
      <p:sp>
        <p:nvSpPr>
          <p:cNvPr id="18" name="Text 16"/>
          <p:cNvSpPr/>
          <p:nvPr/>
        </p:nvSpPr>
        <p:spPr>
          <a:xfrm>
            <a:off x="2494607" y="5389910"/>
            <a:ext cx="888459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FBF9"/>
                </a:solidFill>
                <a:latin typeface="Inter" pitchFamily="34" charset="0"/>
                <a:ea typeface="Inter" pitchFamily="34" charset="-122"/>
                <a:cs typeface="Inter" pitchFamily="34" charset="-120"/>
              </a:rPr>
              <a:t>Org-level UAT CoE frameworks apply these tools consistently across every Line of Business</a:t>
            </a:r>
            <a:endParaRPr lang="en-US" sz="1400" dirty="0"/>
          </a:p>
        </p:txBody>
      </p:sp>
      <p:sp>
        <p:nvSpPr>
          <p:cNvPr id="19" name="Text 17"/>
          <p:cNvSpPr/>
          <p:nvPr/>
        </p:nvSpPr>
        <p:spPr>
          <a:xfrm>
            <a:off x="812800" y="6238280"/>
            <a:ext cx="7658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C"/>
                </a:solidFill>
                <a:latin typeface="Inter" pitchFamily="34" charset="0"/>
                <a:ea typeface="Inter" pitchFamily="34" charset="-122"/>
                <a:cs typeface="Inter" pitchFamily="34" charset="-120"/>
              </a:rPr>
              <a:t>UAT CoE</a:t>
            </a:r>
            <a:endParaRPr lang="en-US" sz="1200" dirty="0"/>
          </a:p>
        </p:txBody>
      </p:sp>
      <p:sp>
        <p:nvSpPr>
          <p:cNvPr id="20" name="Text 18"/>
          <p:cNvSpPr/>
          <p:nvPr/>
        </p:nvSpPr>
        <p:spPr>
          <a:xfrm>
            <a:off x="11221045" y="6238280"/>
            <a:ext cx="2089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C"/>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0F2238"/>
                </a:solidFill>
                <a:latin typeface="Space Grotesk" pitchFamily="34" charset="0"/>
                <a:ea typeface="Space Grotesk" pitchFamily="34" charset="-122"/>
                <a:cs typeface="Space Grotesk" pitchFamily="34" charset="-120"/>
              </a:rPr>
              <a:t>From Request to Running Automation</a:t>
            </a:r>
            <a:endParaRPr lang="en-US" sz="3600" dirty="0"/>
          </a:p>
        </p:txBody>
      </p:sp>
      <p:sp>
        <p:nvSpPr>
          <p:cNvPr id="3" name="Text 1"/>
          <p:cNvSpPr/>
          <p:nvPr/>
        </p:nvSpPr>
        <p:spPr>
          <a:xfrm>
            <a:off x="812800" y="164336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C6B78"/>
                </a:solidFill>
                <a:latin typeface="Inter" pitchFamily="34" charset="0"/>
                <a:ea typeface="Inter" pitchFamily="34" charset="-122"/>
                <a:cs typeface="Inter" pitchFamily="34" charset="-120"/>
              </a:rPr>
              <a:t>The path every new application follows</a:t>
            </a:r>
            <a:endParaRPr lang="en-US" sz="1400" dirty="0"/>
          </a:p>
        </p:txBody>
      </p:sp>
      <p:sp>
        <p:nvSpPr>
          <p:cNvPr id="4" name="Shape 2"/>
          <p:cNvSpPr/>
          <p:nvPr/>
        </p:nvSpPr>
        <p:spPr>
          <a:xfrm>
            <a:off x="815975" y="3152825"/>
            <a:ext cx="1802110" cy="1733401"/>
          </a:xfrm>
          <a:prstGeom prst="roundRect">
            <a:avLst>
              <a:gd name="adj" fmla="val 5678"/>
            </a:avLst>
          </a:prstGeom>
          <a:solidFill>
            <a:srgbClr val="FFFFFF"/>
          </a:solidFill>
          <a:ln w="6350">
            <a:solidFill>
              <a:srgbClr val="E2E6E9"/>
            </a:solidFill>
            <a:prstDash val="solid"/>
          </a:ln>
        </p:spPr>
      </p:sp>
      <p:sp>
        <p:nvSpPr>
          <p:cNvPr id="5" name="Text 3"/>
          <p:cNvSpPr/>
          <p:nvPr/>
        </p:nvSpPr>
        <p:spPr>
          <a:xfrm>
            <a:off x="1022350" y="3359200"/>
            <a:ext cx="17710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BB3A3"/>
                </a:solidFill>
                <a:latin typeface="Space Grotesk" pitchFamily="34" charset="0"/>
                <a:ea typeface="Space Grotesk" pitchFamily="34" charset="-122"/>
                <a:cs typeface="Space Grotesk" pitchFamily="34" charset="-120"/>
              </a:rPr>
              <a:t>1</a:t>
            </a:r>
            <a:endParaRPr lang="en-US" sz="2200" dirty="0"/>
          </a:p>
        </p:txBody>
      </p:sp>
      <p:sp>
        <p:nvSpPr>
          <p:cNvPr id="6" name="Text 4"/>
          <p:cNvSpPr/>
          <p:nvPr/>
        </p:nvSpPr>
        <p:spPr>
          <a:xfrm>
            <a:off x="1022350" y="3826520"/>
            <a:ext cx="1311712"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F2238"/>
                </a:solidFill>
                <a:latin typeface="Inter" pitchFamily="34" charset="0"/>
                <a:ea typeface="Inter" pitchFamily="34" charset="-122"/>
                <a:cs typeface="Inter" pitchFamily="34" charset="-120"/>
              </a:rPr>
              <a:t>Request Intake</a:t>
            </a:r>
            <a:endParaRPr lang="en-US" sz="1200" dirty="0"/>
          </a:p>
        </p:txBody>
      </p:sp>
      <p:sp>
        <p:nvSpPr>
          <p:cNvPr id="7" name="Text 5"/>
          <p:cNvSpPr/>
          <p:nvPr/>
        </p:nvSpPr>
        <p:spPr>
          <a:xfrm>
            <a:off x="1022350" y="4085580"/>
            <a:ext cx="144016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C6B78"/>
                </a:solidFill>
                <a:latin typeface="Inter" pitchFamily="34" charset="0"/>
                <a:ea typeface="Inter" pitchFamily="34" charset="-122"/>
                <a:cs typeface="Inter" pitchFamily="34" charset="-120"/>
              </a:rPr>
              <a:t>LOB submits the application for automation</a:t>
            </a:r>
            <a:endParaRPr lang="en-US" sz="1200" dirty="0"/>
          </a:p>
        </p:txBody>
      </p:sp>
      <p:pic>
        <p:nvPicPr>
          <p:cNvPr id="8" name="Image 0" descr="arrow-right">    </p:cNvPr>
          <p:cNvPicPr>
            <a:picLocks noChangeAspect="1"/>
          </p:cNvPicPr>
          <p:nvPr/>
        </p:nvPicPr>
        <p:blipFill>
          <a:blip r:embed="rId1"/>
          <a:srcRect l="0" r="0" t="0" b="0"/>
          <a:stretch/>
        </p:blipFill>
        <p:spPr>
          <a:xfrm>
            <a:off x="2710160" y="3917900"/>
            <a:ext cx="203200" cy="203200"/>
          </a:xfrm>
          <a:prstGeom prst="rect">
            <a:avLst/>
          </a:prstGeom>
        </p:spPr>
      </p:pic>
      <p:sp>
        <p:nvSpPr>
          <p:cNvPr id="9" name="Shape 6"/>
          <p:cNvSpPr/>
          <p:nvPr/>
        </p:nvSpPr>
        <p:spPr>
          <a:xfrm>
            <a:off x="3005435" y="3160415"/>
            <a:ext cx="1802160" cy="1718171"/>
          </a:xfrm>
          <a:prstGeom prst="roundRect">
            <a:avLst>
              <a:gd name="adj" fmla="val 5728"/>
            </a:avLst>
          </a:prstGeom>
          <a:solidFill>
            <a:srgbClr val="FFFFFF"/>
          </a:solidFill>
          <a:ln w="6350">
            <a:solidFill>
              <a:srgbClr val="E2E6E9"/>
            </a:solidFill>
            <a:prstDash val="solid"/>
          </a:ln>
        </p:spPr>
      </p:sp>
      <p:sp>
        <p:nvSpPr>
          <p:cNvPr id="10" name="Text 7"/>
          <p:cNvSpPr/>
          <p:nvPr/>
        </p:nvSpPr>
        <p:spPr>
          <a:xfrm>
            <a:off x="3211810" y="3366790"/>
            <a:ext cx="21679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BB3A3"/>
                </a:solidFill>
                <a:latin typeface="Space Grotesk" pitchFamily="34" charset="0"/>
                <a:ea typeface="Space Grotesk" pitchFamily="34" charset="-122"/>
                <a:cs typeface="Space Grotesk" pitchFamily="34" charset="-120"/>
              </a:rPr>
              <a:t>2</a:t>
            </a:r>
            <a:endParaRPr lang="en-US" sz="2200" dirty="0"/>
          </a:p>
        </p:txBody>
      </p:sp>
      <p:sp>
        <p:nvSpPr>
          <p:cNvPr id="11" name="Text 8"/>
          <p:cNvSpPr/>
          <p:nvPr/>
        </p:nvSpPr>
        <p:spPr>
          <a:xfrm>
            <a:off x="3211810" y="3834110"/>
            <a:ext cx="1440210" cy="39112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F2238"/>
                </a:solidFill>
                <a:latin typeface="Inter" pitchFamily="34" charset="0"/>
                <a:ea typeface="Inter" pitchFamily="34" charset="-122"/>
                <a:cs typeface="Inter" pitchFamily="34" charset="-120"/>
              </a:rPr>
              <a:t>Readiness Assessment</a:t>
            </a:r>
            <a:endParaRPr lang="en-US" sz="1200" dirty="0"/>
          </a:p>
        </p:txBody>
      </p:sp>
      <p:sp>
        <p:nvSpPr>
          <p:cNvPr id="12" name="Text 9"/>
          <p:cNvSpPr/>
          <p:nvPr/>
        </p:nvSpPr>
        <p:spPr>
          <a:xfrm>
            <a:off x="3211810" y="4276030"/>
            <a:ext cx="144021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C6B78"/>
                </a:solidFill>
                <a:latin typeface="Inter" pitchFamily="34" charset="0"/>
                <a:ea typeface="Inter" pitchFamily="34" charset="-122"/>
                <a:cs typeface="Inter" pitchFamily="34" charset="-120"/>
              </a:rPr>
              <a:t>The four-pillar check runs</a:t>
            </a:r>
            <a:endParaRPr lang="en-US" sz="1200" dirty="0"/>
          </a:p>
        </p:txBody>
      </p:sp>
      <p:pic>
        <p:nvPicPr>
          <p:cNvPr id="13" name="Image 1" descr="arrow-right">    </p:cNvPr>
          <p:cNvPicPr>
            <a:picLocks noChangeAspect="1"/>
          </p:cNvPicPr>
          <p:nvPr/>
        </p:nvPicPr>
        <p:blipFill>
          <a:blip r:embed="rId2"/>
          <a:srcRect l="0" r="0" t="0" b="0"/>
          <a:stretch/>
        </p:blipFill>
        <p:spPr>
          <a:xfrm>
            <a:off x="4899670" y="3917900"/>
            <a:ext cx="203200" cy="203200"/>
          </a:xfrm>
          <a:prstGeom prst="rect">
            <a:avLst/>
          </a:prstGeom>
        </p:spPr>
      </p:pic>
      <p:sp>
        <p:nvSpPr>
          <p:cNvPr id="14" name="Shape 10"/>
          <p:cNvSpPr/>
          <p:nvPr/>
        </p:nvSpPr>
        <p:spPr>
          <a:xfrm>
            <a:off x="5194945" y="3061395"/>
            <a:ext cx="1802110" cy="1916261"/>
          </a:xfrm>
          <a:prstGeom prst="roundRect">
            <a:avLst>
              <a:gd name="adj" fmla="val 5462"/>
            </a:avLst>
          </a:prstGeom>
          <a:solidFill>
            <a:srgbClr val="FFFFFF"/>
          </a:solidFill>
          <a:ln w="6350">
            <a:solidFill>
              <a:srgbClr val="E2E6E9"/>
            </a:solidFill>
            <a:prstDash val="solid"/>
          </a:ln>
        </p:spPr>
      </p:sp>
      <p:sp>
        <p:nvSpPr>
          <p:cNvPr id="15" name="Text 11"/>
          <p:cNvSpPr/>
          <p:nvPr/>
        </p:nvSpPr>
        <p:spPr>
          <a:xfrm>
            <a:off x="5401320" y="3267770"/>
            <a:ext cx="22071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BB3A3"/>
                </a:solidFill>
                <a:latin typeface="Space Grotesk" pitchFamily="34" charset="0"/>
                <a:ea typeface="Space Grotesk" pitchFamily="34" charset="-122"/>
                <a:cs typeface="Space Grotesk" pitchFamily="34" charset="-120"/>
              </a:rPr>
              <a:t>3</a:t>
            </a:r>
            <a:endParaRPr lang="en-US" sz="2200" dirty="0"/>
          </a:p>
        </p:txBody>
      </p:sp>
      <p:sp>
        <p:nvSpPr>
          <p:cNvPr id="16" name="Text 12"/>
          <p:cNvSpPr/>
          <p:nvPr/>
        </p:nvSpPr>
        <p:spPr>
          <a:xfrm>
            <a:off x="5401320" y="3735090"/>
            <a:ext cx="1440160" cy="39112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F2238"/>
                </a:solidFill>
                <a:latin typeface="Inter" pitchFamily="34" charset="0"/>
                <a:ea typeface="Inter" pitchFamily="34" charset="-122"/>
                <a:cs typeface="Inter" pitchFamily="34" charset="-120"/>
              </a:rPr>
              <a:t>Go/No-Go &amp; Roadmap</a:t>
            </a:r>
            <a:endParaRPr lang="en-US" sz="1200" dirty="0"/>
          </a:p>
        </p:txBody>
      </p:sp>
      <p:sp>
        <p:nvSpPr>
          <p:cNvPr id="17" name="Text 13"/>
          <p:cNvSpPr/>
          <p:nvPr/>
        </p:nvSpPr>
        <p:spPr>
          <a:xfrm>
            <a:off x="5401320" y="4177010"/>
            <a:ext cx="144016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C6B78"/>
                </a:solidFill>
                <a:latin typeface="Inter" pitchFamily="34" charset="0"/>
                <a:ea typeface="Inter" pitchFamily="34" charset="-122"/>
                <a:cs typeface="Inter" pitchFamily="34" charset="-120"/>
              </a:rPr>
              <a:t>CoE issues a recommendation and plan</a:t>
            </a:r>
            <a:endParaRPr lang="en-US" sz="1200" dirty="0"/>
          </a:p>
        </p:txBody>
      </p:sp>
      <p:pic>
        <p:nvPicPr>
          <p:cNvPr id="18" name="Image 2" descr="arrow-right">    </p:cNvPr>
          <p:cNvPicPr>
            <a:picLocks noChangeAspect="1"/>
          </p:cNvPicPr>
          <p:nvPr/>
        </p:nvPicPr>
        <p:blipFill>
          <a:blip r:embed="rId3"/>
          <a:srcRect l="0" r="0" t="0" b="0"/>
          <a:stretch/>
        </p:blipFill>
        <p:spPr>
          <a:xfrm>
            <a:off x="7089130" y="3917900"/>
            <a:ext cx="203200" cy="203200"/>
          </a:xfrm>
          <a:prstGeom prst="rect">
            <a:avLst/>
          </a:prstGeom>
        </p:spPr>
      </p:pic>
      <p:sp>
        <p:nvSpPr>
          <p:cNvPr id="19" name="Shape 14"/>
          <p:cNvSpPr/>
          <p:nvPr/>
        </p:nvSpPr>
        <p:spPr>
          <a:xfrm>
            <a:off x="7384405" y="3152825"/>
            <a:ext cx="1802160" cy="1733401"/>
          </a:xfrm>
          <a:prstGeom prst="roundRect">
            <a:avLst>
              <a:gd name="adj" fmla="val 5678"/>
            </a:avLst>
          </a:prstGeom>
          <a:solidFill>
            <a:srgbClr val="FFFFFF"/>
          </a:solidFill>
          <a:ln w="6350">
            <a:solidFill>
              <a:srgbClr val="E2E6E9"/>
            </a:solidFill>
            <a:prstDash val="solid"/>
          </a:ln>
        </p:spPr>
      </p:sp>
      <p:sp>
        <p:nvSpPr>
          <p:cNvPr id="20" name="Text 15"/>
          <p:cNvSpPr/>
          <p:nvPr/>
        </p:nvSpPr>
        <p:spPr>
          <a:xfrm>
            <a:off x="7590780" y="3359200"/>
            <a:ext cx="22850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BB3A3"/>
                </a:solidFill>
                <a:latin typeface="Space Grotesk" pitchFamily="34" charset="0"/>
                <a:ea typeface="Space Grotesk" pitchFamily="34" charset="-122"/>
                <a:cs typeface="Space Grotesk" pitchFamily="34" charset="-120"/>
              </a:rPr>
              <a:t>4</a:t>
            </a:r>
            <a:endParaRPr lang="en-US" sz="2200" dirty="0"/>
          </a:p>
        </p:txBody>
      </p:sp>
      <p:sp>
        <p:nvSpPr>
          <p:cNvPr id="21" name="Text 16"/>
          <p:cNvSpPr/>
          <p:nvPr/>
        </p:nvSpPr>
        <p:spPr>
          <a:xfrm>
            <a:off x="7590780" y="3826520"/>
            <a:ext cx="141101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F2238"/>
                </a:solidFill>
                <a:latin typeface="Inter" pitchFamily="34" charset="0"/>
                <a:ea typeface="Inter" pitchFamily="34" charset="-122"/>
                <a:cs typeface="Inter" pitchFamily="34" charset="-120"/>
              </a:rPr>
              <a:t>Build &amp; Stabilize</a:t>
            </a:r>
            <a:endParaRPr lang="en-US" sz="1200" dirty="0"/>
          </a:p>
        </p:txBody>
      </p:sp>
      <p:sp>
        <p:nvSpPr>
          <p:cNvPr id="22" name="Text 17"/>
          <p:cNvSpPr/>
          <p:nvPr/>
        </p:nvSpPr>
        <p:spPr>
          <a:xfrm>
            <a:off x="7590780" y="4085580"/>
            <a:ext cx="144021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C6B78"/>
                </a:solidFill>
                <a:latin typeface="Inter" pitchFamily="34" charset="0"/>
                <a:ea typeface="Inter" pitchFamily="34" charset="-122"/>
                <a:cs typeface="Inter" pitchFamily="34" charset="-120"/>
              </a:rPr>
              <a:t>Frameworks, scripts, and CI integration</a:t>
            </a:r>
            <a:endParaRPr lang="en-US" sz="1200" dirty="0"/>
          </a:p>
        </p:txBody>
      </p:sp>
      <p:pic>
        <p:nvPicPr>
          <p:cNvPr id="23" name="Image 3" descr="arrow-right">    </p:cNvPr>
          <p:cNvPicPr>
            <a:picLocks noChangeAspect="1"/>
          </p:cNvPicPr>
          <p:nvPr/>
        </p:nvPicPr>
        <p:blipFill>
          <a:blip r:embed="rId4"/>
          <a:srcRect l="0" r="0" t="0" b="0"/>
          <a:stretch/>
        </p:blipFill>
        <p:spPr>
          <a:xfrm>
            <a:off x="9278640" y="3917900"/>
            <a:ext cx="203200" cy="203200"/>
          </a:xfrm>
          <a:prstGeom prst="rect">
            <a:avLst/>
          </a:prstGeom>
        </p:spPr>
      </p:pic>
      <p:sp>
        <p:nvSpPr>
          <p:cNvPr id="24" name="Shape 18"/>
          <p:cNvSpPr/>
          <p:nvPr/>
        </p:nvSpPr>
        <p:spPr>
          <a:xfrm>
            <a:off x="9573915" y="3061395"/>
            <a:ext cx="1802110" cy="1916261"/>
          </a:xfrm>
          <a:prstGeom prst="roundRect">
            <a:avLst>
              <a:gd name="adj" fmla="val 5462"/>
            </a:avLst>
          </a:prstGeom>
          <a:solidFill>
            <a:srgbClr val="FFFFFF"/>
          </a:solidFill>
          <a:ln w="6350">
            <a:solidFill>
              <a:srgbClr val="E2E6E9"/>
            </a:solidFill>
            <a:prstDash val="solid"/>
          </a:ln>
        </p:spPr>
      </p:sp>
      <p:sp>
        <p:nvSpPr>
          <p:cNvPr id="25" name="Text 19"/>
          <p:cNvSpPr/>
          <p:nvPr/>
        </p:nvSpPr>
        <p:spPr>
          <a:xfrm>
            <a:off x="9780290" y="3267770"/>
            <a:ext cx="21848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BB3A3"/>
                </a:solidFill>
                <a:latin typeface="Space Grotesk" pitchFamily="34" charset="0"/>
                <a:ea typeface="Space Grotesk" pitchFamily="34" charset="-122"/>
                <a:cs typeface="Space Grotesk" pitchFamily="34" charset="-120"/>
              </a:rPr>
              <a:t>5</a:t>
            </a:r>
            <a:endParaRPr lang="en-US" sz="2200" dirty="0"/>
          </a:p>
        </p:txBody>
      </p:sp>
      <p:sp>
        <p:nvSpPr>
          <p:cNvPr id="26" name="Text 20"/>
          <p:cNvSpPr/>
          <p:nvPr/>
        </p:nvSpPr>
        <p:spPr>
          <a:xfrm>
            <a:off x="9780290" y="3735090"/>
            <a:ext cx="1440160" cy="39112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F2238"/>
                </a:solidFill>
                <a:latin typeface="Inter" pitchFamily="34" charset="0"/>
                <a:ea typeface="Inter" pitchFamily="34" charset="-122"/>
                <a:cs typeface="Inter" pitchFamily="34" charset="-120"/>
              </a:rPr>
              <a:t>Execute &amp; Handover</a:t>
            </a:r>
            <a:endParaRPr lang="en-US" sz="1200" dirty="0"/>
          </a:p>
        </p:txBody>
      </p:sp>
      <p:sp>
        <p:nvSpPr>
          <p:cNvPr id="27" name="Text 21"/>
          <p:cNvSpPr/>
          <p:nvPr/>
        </p:nvSpPr>
        <p:spPr>
          <a:xfrm>
            <a:off x="9780290" y="4177010"/>
            <a:ext cx="144016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C6B78"/>
                </a:solidFill>
                <a:latin typeface="Inter" pitchFamily="34" charset="0"/>
                <a:ea typeface="Inter" pitchFamily="34" charset="-122"/>
                <a:cs typeface="Inter" pitchFamily="34" charset="-120"/>
              </a:rPr>
              <a:t>Running in HyperExecute, tracked in Octane</a:t>
            </a:r>
            <a:endParaRPr lang="en-US" sz="1200" dirty="0"/>
          </a:p>
        </p:txBody>
      </p:sp>
      <p:sp>
        <p:nvSpPr>
          <p:cNvPr id="28" name="Text 22"/>
          <p:cNvSpPr/>
          <p:nvPr/>
        </p:nvSpPr>
        <p:spPr>
          <a:xfrm>
            <a:off x="812800" y="6238280"/>
            <a:ext cx="7658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C"/>
                </a:solidFill>
                <a:latin typeface="Inter" pitchFamily="34" charset="0"/>
                <a:ea typeface="Inter" pitchFamily="34" charset="-122"/>
                <a:cs typeface="Inter" pitchFamily="34" charset="-120"/>
              </a:rPr>
              <a:t>UAT CoE</a:t>
            </a:r>
            <a:endParaRPr lang="en-US" sz="1200" dirty="0"/>
          </a:p>
        </p:txBody>
      </p:sp>
      <p:sp>
        <p:nvSpPr>
          <p:cNvPr id="29" name="Text 23"/>
          <p:cNvSpPr/>
          <p:nvPr/>
        </p:nvSpPr>
        <p:spPr>
          <a:xfrm>
            <a:off x="11255226" y="6238280"/>
            <a:ext cx="1747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C"/>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23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BFBF9"/>
                </a:solidFill>
                <a:latin typeface="Space Grotesk" pitchFamily="34" charset="0"/>
                <a:ea typeface="Space Grotesk" pitchFamily="34" charset="-122"/>
                <a:cs typeface="Space Grotesk" pitchFamily="34" charset="-120"/>
              </a:rPr>
              <a:t>Why This Matters</a:t>
            </a:r>
            <a:endParaRPr lang="en-US" sz="3600" dirty="0"/>
          </a:p>
        </p:txBody>
      </p:sp>
      <p:sp>
        <p:nvSpPr>
          <p:cNvPr id="3" name="Text 1"/>
          <p:cNvSpPr/>
          <p:nvPr/>
        </p:nvSpPr>
        <p:spPr>
          <a:xfrm>
            <a:off x="812800" y="159256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7C2CC"/>
                </a:solidFill>
                <a:latin typeface="Inter" pitchFamily="34" charset="0"/>
                <a:ea typeface="Inter" pitchFamily="34" charset="-122"/>
                <a:cs typeface="Inter" pitchFamily="34" charset="-120"/>
              </a:rPr>
              <a:t>What a structured readiness check buys the business</a:t>
            </a:r>
            <a:endParaRPr lang="en-US" sz="1400" dirty="0"/>
          </a:p>
        </p:txBody>
      </p:sp>
      <p:sp>
        <p:nvSpPr>
          <p:cNvPr id="4" name="Shape 2"/>
          <p:cNvSpPr/>
          <p:nvPr/>
        </p:nvSpPr>
        <p:spPr>
          <a:xfrm>
            <a:off x="812800" y="2095450"/>
            <a:ext cx="2527300" cy="3746550"/>
          </a:xfrm>
          <a:prstGeom prst="roundRect">
            <a:avLst>
              <a:gd name="adj" fmla="val 4020"/>
            </a:avLst>
          </a:prstGeom>
          <a:solidFill>
            <a:srgbClr val="15304A"/>
          </a:solidFill>
          <a:ln/>
        </p:spPr>
      </p:sp>
      <p:sp>
        <p:nvSpPr>
          <p:cNvPr id="5" name="Text 3"/>
          <p:cNvSpPr/>
          <p:nvPr/>
        </p:nvSpPr>
        <p:spPr>
          <a:xfrm>
            <a:off x="1016000" y="2298650"/>
            <a:ext cx="21845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FD9CC"/>
                </a:solidFill>
                <a:latin typeface="Inter" pitchFamily="34" charset="0"/>
                <a:ea typeface="Inter" pitchFamily="34" charset="-122"/>
                <a:cs typeface="Inter" pitchFamily="34" charset="-120"/>
              </a:rPr>
              <a:t>Fewer False Starts</a:t>
            </a:r>
            <a:endParaRPr lang="en-US" sz="1400" dirty="0"/>
          </a:p>
        </p:txBody>
      </p:sp>
      <p:sp>
        <p:nvSpPr>
          <p:cNvPr id="6" name="Text 4"/>
          <p:cNvSpPr/>
          <p:nvPr/>
        </p:nvSpPr>
        <p:spPr>
          <a:xfrm>
            <a:off x="1016000" y="2588171"/>
            <a:ext cx="21845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DE2"/>
                </a:solidFill>
                <a:latin typeface="Inter" pitchFamily="34" charset="0"/>
                <a:ea typeface="Inter" pitchFamily="34" charset="-122"/>
                <a:cs typeface="Inter" pitchFamily="34" charset="-120"/>
              </a:rPr>
              <a:t>Automation effort goes where it will actually pay off</a:t>
            </a:r>
            <a:endParaRPr lang="en-US" sz="1200" dirty="0"/>
          </a:p>
        </p:txBody>
      </p:sp>
      <p:sp>
        <p:nvSpPr>
          <p:cNvPr id="7" name="Shape 5"/>
          <p:cNvSpPr/>
          <p:nvPr/>
        </p:nvSpPr>
        <p:spPr>
          <a:xfrm>
            <a:off x="3492500" y="2095450"/>
            <a:ext cx="2527300" cy="3746550"/>
          </a:xfrm>
          <a:prstGeom prst="roundRect">
            <a:avLst>
              <a:gd name="adj" fmla="val 4020"/>
            </a:avLst>
          </a:prstGeom>
          <a:solidFill>
            <a:srgbClr val="15304A"/>
          </a:solidFill>
          <a:ln/>
        </p:spPr>
      </p:sp>
      <p:sp>
        <p:nvSpPr>
          <p:cNvPr id="8" name="Text 6"/>
          <p:cNvSpPr/>
          <p:nvPr/>
        </p:nvSpPr>
        <p:spPr>
          <a:xfrm>
            <a:off x="3695700" y="2298650"/>
            <a:ext cx="21845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FD9CC"/>
                </a:solidFill>
                <a:latin typeface="Inter" pitchFamily="34" charset="0"/>
                <a:ea typeface="Inter" pitchFamily="34" charset="-122"/>
                <a:cs typeface="Inter" pitchFamily="34" charset="-120"/>
              </a:rPr>
              <a:t>Realistic Timelines</a:t>
            </a:r>
            <a:endParaRPr lang="en-US" sz="1400" dirty="0"/>
          </a:p>
        </p:txBody>
      </p:sp>
      <p:sp>
        <p:nvSpPr>
          <p:cNvPr id="9" name="Text 7"/>
          <p:cNvSpPr/>
          <p:nvPr/>
        </p:nvSpPr>
        <p:spPr>
          <a:xfrm>
            <a:off x="3695700" y="2588171"/>
            <a:ext cx="21845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DE2"/>
                </a:solidFill>
                <a:latin typeface="Inter" pitchFamily="34" charset="0"/>
                <a:ea typeface="Inter" pitchFamily="34" charset="-122"/>
                <a:cs typeface="Inter" pitchFamily="34" charset="-120"/>
              </a:rPr>
              <a:t>LOB stakeholders know what to expect, up front</a:t>
            </a:r>
            <a:endParaRPr lang="en-US" sz="1200" dirty="0"/>
          </a:p>
        </p:txBody>
      </p:sp>
      <p:sp>
        <p:nvSpPr>
          <p:cNvPr id="10" name="Shape 8"/>
          <p:cNvSpPr/>
          <p:nvPr/>
        </p:nvSpPr>
        <p:spPr>
          <a:xfrm>
            <a:off x="6172200" y="2095450"/>
            <a:ext cx="2527300" cy="3746550"/>
          </a:xfrm>
          <a:prstGeom prst="roundRect">
            <a:avLst>
              <a:gd name="adj" fmla="val 4020"/>
            </a:avLst>
          </a:prstGeom>
          <a:solidFill>
            <a:srgbClr val="15304A"/>
          </a:solidFill>
          <a:ln/>
        </p:spPr>
      </p:sp>
      <p:sp>
        <p:nvSpPr>
          <p:cNvPr id="11" name="Text 9"/>
          <p:cNvSpPr/>
          <p:nvPr/>
        </p:nvSpPr>
        <p:spPr>
          <a:xfrm>
            <a:off x="6375400" y="2298650"/>
            <a:ext cx="21845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FD9CC"/>
                </a:solidFill>
                <a:latin typeface="Inter" pitchFamily="34" charset="0"/>
                <a:ea typeface="Inter" pitchFamily="34" charset="-122"/>
                <a:cs typeface="Inter" pitchFamily="34" charset="-120"/>
              </a:rPr>
              <a:t>Consistency</a:t>
            </a:r>
            <a:endParaRPr lang="en-US" sz="1400" dirty="0"/>
          </a:p>
        </p:txBody>
      </p:sp>
      <p:sp>
        <p:nvSpPr>
          <p:cNvPr id="12" name="Text 10"/>
          <p:cNvSpPr/>
          <p:nvPr/>
        </p:nvSpPr>
        <p:spPr>
          <a:xfrm>
            <a:off x="6375400" y="2588171"/>
            <a:ext cx="218452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DE2"/>
                </a:solidFill>
                <a:latin typeface="Inter" pitchFamily="34" charset="0"/>
                <a:ea typeface="Inter" pitchFamily="34" charset="-122"/>
                <a:cs typeface="Inter" pitchFamily="34" charset="-120"/>
              </a:rPr>
              <a:t>Every application onboards through the same CoE-standard frameworks</a:t>
            </a:r>
            <a:endParaRPr lang="en-US" sz="1200" dirty="0"/>
          </a:p>
        </p:txBody>
      </p:sp>
      <p:sp>
        <p:nvSpPr>
          <p:cNvPr id="13" name="Shape 11"/>
          <p:cNvSpPr/>
          <p:nvPr/>
        </p:nvSpPr>
        <p:spPr>
          <a:xfrm>
            <a:off x="8851900" y="2095450"/>
            <a:ext cx="2527300" cy="3746550"/>
          </a:xfrm>
          <a:prstGeom prst="roundRect">
            <a:avLst>
              <a:gd name="adj" fmla="val 4020"/>
            </a:avLst>
          </a:prstGeom>
          <a:solidFill>
            <a:srgbClr val="15304A"/>
          </a:solidFill>
          <a:ln/>
        </p:spPr>
      </p:sp>
      <p:sp>
        <p:nvSpPr>
          <p:cNvPr id="14" name="Text 12"/>
          <p:cNvSpPr/>
          <p:nvPr/>
        </p:nvSpPr>
        <p:spPr>
          <a:xfrm>
            <a:off x="9055100" y="2298650"/>
            <a:ext cx="21845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FD9CC"/>
                </a:solidFill>
                <a:latin typeface="Inter" pitchFamily="34" charset="0"/>
                <a:ea typeface="Inter" pitchFamily="34" charset="-122"/>
                <a:cs typeface="Inter" pitchFamily="34" charset="-120"/>
              </a:rPr>
              <a:t>Visibility</a:t>
            </a:r>
            <a:endParaRPr lang="en-US" sz="1400" dirty="0"/>
          </a:p>
        </p:txBody>
      </p:sp>
      <p:sp>
        <p:nvSpPr>
          <p:cNvPr id="15" name="Text 13"/>
          <p:cNvSpPr/>
          <p:nvPr/>
        </p:nvSpPr>
        <p:spPr>
          <a:xfrm>
            <a:off x="9055100" y="2588171"/>
            <a:ext cx="21845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DE2"/>
                </a:solidFill>
                <a:latin typeface="Inter" pitchFamily="34" charset="0"/>
                <a:ea typeface="Inter" pitchFamily="34" charset="-122"/>
                <a:cs typeface="Inter" pitchFamily="34" charset="-120"/>
              </a:rPr>
              <a:t>Progress and quality tracked centrally through Octane</a:t>
            </a:r>
            <a:endParaRPr lang="en-US" sz="1200" dirty="0"/>
          </a:p>
        </p:txBody>
      </p:sp>
      <p:sp>
        <p:nvSpPr>
          <p:cNvPr id="16" name="Text 14"/>
          <p:cNvSpPr/>
          <p:nvPr/>
        </p:nvSpPr>
        <p:spPr>
          <a:xfrm>
            <a:off x="812800" y="6238280"/>
            <a:ext cx="7658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C99"/>
                </a:solidFill>
                <a:latin typeface="Inter" pitchFamily="34" charset="0"/>
                <a:ea typeface="Inter" pitchFamily="34" charset="-122"/>
                <a:cs typeface="Inter" pitchFamily="34" charset="-120"/>
              </a:rPr>
              <a:t>UAT CoE</a:t>
            </a:r>
            <a:endParaRPr lang="en-US" sz="1200" dirty="0"/>
          </a:p>
        </p:txBody>
      </p:sp>
      <p:sp>
        <p:nvSpPr>
          <p:cNvPr id="17" name="Text 15"/>
          <p:cNvSpPr/>
          <p:nvPr/>
        </p:nvSpPr>
        <p:spPr>
          <a:xfrm>
            <a:off x="11224270" y="6238280"/>
            <a:ext cx="2057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C99"/>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238"/>
        </a:solidFill>
      </p:bgPr>
    </p:bg>
    <p:spTree>
      <p:nvGrpSpPr>
        <p:cNvPr id="1" name=""/>
        <p:cNvGrpSpPr/>
        <p:nvPr/>
      </p:nvGrpSpPr>
      <p:grpSpPr>
        <a:xfrm>
          <a:off x="0" y="0"/>
          <a:ext cx="0" cy="0"/>
          <a:chOff x="0" y="0"/>
          <a:chExt cx="0" cy="0"/>
        </a:xfrm>
      </p:grpSpPr>
      <p:sp>
        <p:nvSpPr>
          <p:cNvPr id="2" name="Text 0"/>
          <p:cNvSpPr/>
          <p:nvPr/>
        </p:nvSpPr>
        <p:spPr>
          <a:xfrm>
            <a:off x="812800" y="1645989"/>
            <a:ext cx="14049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FD9CC"/>
                </a:solidFill>
                <a:latin typeface="Inter" pitchFamily="34" charset="0"/>
                <a:ea typeface="Inter" pitchFamily="34" charset="-122"/>
                <a:cs typeface="Inter" pitchFamily="34" charset="-120"/>
              </a:rPr>
              <a:t>IN SUMMARY</a:t>
            </a:r>
            <a:endParaRPr lang="en-US" sz="1400" dirty="0"/>
          </a:p>
        </p:txBody>
      </p:sp>
      <p:sp>
        <p:nvSpPr>
          <p:cNvPr id="3" name="Text 1"/>
          <p:cNvSpPr/>
          <p:nvPr>
            <p:ph type="title"/>
          </p:nvPr>
        </p:nvSpPr>
        <p:spPr>
          <a:xfrm>
            <a:off x="812800" y="2148880"/>
            <a:ext cx="10137775" cy="1762671"/>
          </a:xfrm>
          <a:prstGeom prst="rect">
            <a:avLst/>
          </a:prstGeom>
          <a:noFill/>
          <a:ln/>
        </p:spPr>
        <p:txBody>
          <a:bodyPr wrap="square" lIns="0" tIns="0" rIns="0" bIns="0" rtlCol="0" anchor="t">
            <a:normAutofit/>
          </a:bodyPr>
          <a:lstStyle/>
          <a:p>
            <a:pPr algn="l" indent="0" marL="0">
              <a:lnSpc>
                <a:spcPts val="4560"/>
              </a:lnSpc>
              <a:buNone/>
            </a:pPr>
            <a:r>
              <a:rPr lang="en-US" sz="3800" b="1" i="0" dirty="0">
                <a:solidFill>
                  <a:srgbClr val="FBFBF9"/>
                </a:solidFill>
                <a:latin typeface="Space Grotesk" pitchFamily="34" charset="0"/>
                <a:ea typeface="Space Grotesk" pitchFamily="34" charset="-122"/>
                <a:cs typeface="Space Grotesk" pitchFamily="34" charset="-120"/>
              </a:rPr>
              <a:t>Every application goes through the same four checks — so automation effort lands where it actually pays off.</a:t>
            </a:r>
            <a:endParaRPr lang="en-US" sz="3800" dirty="0"/>
          </a:p>
        </p:txBody>
      </p:sp>
      <p:sp>
        <p:nvSpPr>
          <p:cNvPr id="4" name="Text 2"/>
          <p:cNvSpPr/>
          <p:nvPr/>
        </p:nvSpPr>
        <p:spPr>
          <a:xfrm>
            <a:off x="812800" y="4140150"/>
            <a:ext cx="91567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2CC"/>
                </a:solidFill>
                <a:latin typeface="Inter" pitchFamily="34" charset="0"/>
                <a:ea typeface="Inter" pitchFamily="34" charset="-122"/>
                <a:cs typeface="Inter" pitchFamily="34" charset="-120"/>
              </a:rPr>
              <a:t>Feasibility. Manual test readiness. Technology fit. Effort and timeline. That's what we look at before a single script gets written — consistently, across every Line of Business.</a:t>
            </a:r>
            <a:endParaRPr lang="en-US" sz="1600" dirty="0"/>
          </a:p>
        </p:txBody>
      </p:sp>
      <p:sp>
        <p:nvSpPr>
          <p:cNvPr id="5" name="Text 3"/>
          <p:cNvSpPr/>
          <p:nvPr/>
        </p:nvSpPr>
        <p:spPr>
          <a:xfrm>
            <a:off x="812800" y="4963071"/>
            <a:ext cx="90029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FD9CC"/>
                </a:solidFill>
                <a:latin typeface="Inter" pitchFamily="34" charset="0"/>
                <a:ea typeface="Inter" pitchFamily="34" charset="-122"/>
                <a:cs typeface="Inter" pitchFamily="34" charset="-120"/>
              </a:rPr>
              <a:t>UAT CoE</a:t>
            </a:r>
            <a:endParaRPr lang="en-US" sz="1400" dirty="0"/>
          </a:p>
        </p:txBody>
      </p:sp>
    </p:spTree>
  </p:cSld>
  <p:clrMapOvr>
    <a:masterClrMapping/>
  </p:clrMapOvr>
</p:sld>
</file>

<file path=ppt/theme/theme1.xml><?xml version="1.0" encoding="utf-8"?>
<a:theme xmlns:a="http://schemas.openxmlformats.org/drawingml/2006/main" name="Automation Readiness: What We Do Before We Build">
  <a:themeElements>
    <a:clrScheme name="Automation Readiness: What We Do Before We Build">
      <a:dk1>
        <a:srgbClr val="16212C"/>
      </a:dk1>
      <a:lt1>
        <a:srgbClr val="FAF9F6"/>
      </a:lt1>
      <a:dk2>
        <a:srgbClr val="4F575F"/>
      </a:dk2>
      <a:lt2>
        <a:srgbClr val="E3E3E2"/>
      </a:lt2>
      <a:accent1>
        <a:srgbClr val="2BB3A3"/>
      </a:accent1>
      <a:accent2>
        <a:srgbClr val="8FD9CC"/>
      </a:accent2>
      <a:accent3>
        <a:srgbClr val="15304A"/>
      </a:accent3>
      <a:accent4>
        <a:srgbClr val="133450"/>
      </a:accent4>
      <a:accent5>
        <a:srgbClr val="5C6B78"/>
      </a:accent5>
      <a:accent6>
        <a:srgbClr val="9AA4AC"/>
      </a:accent6>
      <a:hlink>
        <a:srgbClr val="0563C1"/>
      </a:hlink>
      <a:folHlink>
        <a:srgbClr val="954F72"/>
      </a:folHlink>
    </a:clrScheme>
    <a:fontScheme name="Automation Readiness: What We Do Before We Build">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Automation Readiness: What We Do Before We Build</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2026-10-29T02:38:57Z</dcterms:created>
  <dcterms:modified xsi:type="dcterms:W3CDTF">2026-10-29T02:38:57Z</dcterms:modified>
</cp:coreProperties>
</file>