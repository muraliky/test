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2104"/>
            <a:ext cx="9144000" cy="13716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28016"/>
            <a:ext cx="548640" cy="54864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28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005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340"/>
                </a:solidFill>
              </a:rPr>
              <a:t>Automation Audit Tool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84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0AA"/>
                </a:solidFill>
              </a:rPr>
              <a:t>CATS Team  ·  UAT Center of Excellence  ·  Wells Fargo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" y="969264"/>
            <a:ext cx="4270248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69264"/>
            <a:ext cx="4251960" cy="45720"/>
          </a:xfrm>
          <a:prstGeom prst="roundRect">
            <a:avLst>
              <a:gd name="adj" fmla="val 160000"/>
            </a:avLst>
          </a:prstGeom>
          <a:solidFill>
            <a:srgbClr val="B71C1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106424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11338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1655064"/>
            <a:ext cx="73152" cy="7315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157276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068"/>
                </a:solidFill>
              </a:rPr>
              <a:t>30+ automated checks on every repository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1929384"/>
            <a:ext cx="73152" cy="7315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184708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068"/>
                </a:solidFill>
              </a:rPr>
              <a:t>Supports WAF/Selenium &amp; Playwright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203704"/>
            <a:ext cx="73152" cy="7315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212140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068"/>
                </a:solidFill>
              </a:rPr>
              <a:t>Generates Excel report with detailed findings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478024"/>
            <a:ext cx="73152" cy="7315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239572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068"/>
                </a:solidFill>
              </a:rPr>
              <a:t>Simple 1-click WinForms desktop launcher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752344"/>
            <a:ext cx="73152" cy="73152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67004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068"/>
                </a:solidFill>
              </a:rPr>
              <a:t>Auto-detects repo type (QAF or Playwright)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54296" y="969264"/>
            <a:ext cx="4270248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69264"/>
            <a:ext cx="4251960" cy="45720"/>
          </a:xfrm>
          <a:prstGeom prst="roundRect">
            <a:avLst>
              <a:gd name="adj" fmla="val 160000"/>
            </a:avLst>
          </a:prstGeom>
          <a:solidFill>
            <a:srgbClr val="1E40A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1106424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49240" y="11338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340"/>
                </a:solidFill>
              </a:rPr>
              <a:t>Audit Categories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18888" y="1636776"/>
            <a:ext cx="91440" cy="91440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4974336" y="1572768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340"/>
                </a:solidFill>
              </a:rPr>
              <a:t>Coding Standards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1764792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0AA"/>
                </a:solidFill>
              </a:rPr>
              <a:t>5 checks — naming, comments, error handling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18888" y="1975104"/>
            <a:ext cx="91440" cy="914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4974336" y="1911096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340"/>
                </a:solidFill>
              </a:rPr>
              <a:t>Framework Standards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74336" y="2103120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0AA"/>
                </a:solidFill>
              </a:rPr>
              <a:t>13–14 checks — page objects, locators, assertions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18888" y="231343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36" y="2249424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340"/>
                </a:solidFill>
              </a:rPr>
              <a:t>Mode of Execution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74336" y="2441448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0AA"/>
                </a:solidFill>
              </a:rPr>
              <a:t>5 checks — HyperExecute, smoke, regression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18888" y="2651760"/>
            <a:ext cx="91440" cy="91440"/>
          </a:xfrm>
          <a:prstGeom prst="ellipse">
            <a:avLst/>
          </a:prstGeom>
          <a:solidFill>
            <a:srgbClr val="6B21A8"/>
          </a:solidFill>
          <a:ln/>
        </p:spPr>
      </p:sp>
      <p:sp>
        <p:nvSpPr>
          <p:cNvPr id="39" name="Text 37"/>
          <p:cNvSpPr/>
          <p:nvPr/>
        </p:nvSpPr>
        <p:spPr>
          <a:xfrm>
            <a:off x="4974336" y="2587752"/>
            <a:ext cx="3813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340"/>
                </a:solidFill>
              </a:rPr>
              <a:t>GIT Maintenance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74336" y="2779776"/>
            <a:ext cx="3813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0AA"/>
                </a:solidFill>
              </a:rPr>
              <a:t>7 checks — branching, PRs, code reviews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9456" y="3090672"/>
            <a:ext cx="870508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3090672"/>
            <a:ext cx="8686800" cy="45720"/>
          </a:xfrm>
          <a:prstGeom prst="roundRect">
            <a:avLst>
              <a:gd name="adj" fmla="val 160000"/>
            </a:avLst>
          </a:prstGeom>
          <a:solidFill>
            <a:srgbClr val="B45309"/>
          </a:solidFill>
          <a:ln/>
        </p:spPr>
      </p:sp>
      <p:sp>
        <p:nvSpPr>
          <p:cNvPr id="43" name="Shape 41"/>
          <p:cNvSpPr/>
          <p:nvPr/>
        </p:nvSpPr>
        <p:spPr>
          <a:xfrm>
            <a:off x="3121152" y="3218688"/>
            <a:ext cx="9144" cy="1060704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022848" y="3218688"/>
            <a:ext cx="9144" cy="1060704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" y="3255264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50976" y="3227832"/>
            <a:ext cx="206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B45309"/>
                </a:solidFill>
              </a:rPr>
              <a:t>2–3 hrs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384048" y="3785616"/>
            <a:ext cx="2645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340"/>
                </a:solidFill>
              </a:rPr>
              <a:t>Saved Per Audit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84048" y="4023360"/>
            <a:ext cx="2645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0AA"/>
                </a:solidFill>
              </a:rPr>
              <a:t>vs manual review per repository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85744" y="3255264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51" name="Text 49"/>
          <p:cNvSpPr/>
          <p:nvPr/>
        </p:nvSpPr>
        <p:spPr>
          <a:xfrm>
            <a:off x="3285744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3852672" y="3227832"/>
            <a:ext cx="206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E40AF"/>
                </a:solidFill>
              </a:rPr>
              <a:t>30+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3285744" y="3785616"/>
            <a:ext cx="2645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340"/>
                </a:solidFill>
              </a:rPr>
              <a:t>Checks Automated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285744" y="4023360"/>
            <a:ext cx="2645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0AA"/>
                </a:solidFill>
              </a:rPr>
              <a:t>Coding · Framework · Execution · GIT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87440" y="3255264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56" name="Text 54"/>
          <p:cNvSpPr/>
          <p:nvPr/>
        </p:nvSpPr>
        <p:spPr>
          <a:xfrm>
            <a:off x="61874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🏢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6754368" y="3227832"/>
            <a:ext cx="2060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rgbClr val="15803D"/>
                </a:solidFill>
              </a:rPr>
              <a:t>5 LOBs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6187440" y="3785616"/>
            <a:ext cx="2645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340"/>
                </a:solidFill>
              </a:rPr>
              <a:t>Lines of Business Covered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87440" y="4023360"/>
            <a:ext cx="2645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0AA"/>
                </a:solidFill>
              </a:rPr>
              <a:t>WIM · CSBB · Credit Solutions · IPO LIQ · Payments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9456" y="4572000"/>
            <a:ext cx="8705088" cy="461772"/>
          </a:xfrm>
          <a:prstGeom prst="roundRect">
            <a:avLst>
              <a:gd name="adj" fmla="val 1386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56032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Consistent Standards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458468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65" name="Shape 63"/>
          <p:cNvSpPr/>
          <p:nvPr/>
        </p:nvSpPr>
        <p:spPr>
          <a:xfrm>
            <a:off x="1947672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499616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Instant Feedback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02052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69" name="Shape 67"/>
          <p:cNvSpPr/>
          <p:nvPr/>
        </p:nvSpPr>
        <p:spPr>
          <a:xfrm>
            <a:off x="3191256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91256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743200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No Manual Bias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945636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73" name="Shape 71"/>
          <p:cNvSpPr/>
          <p:nvPr/>
        </p:nvSpPr>
        <p:spPr>
          <a:xfrm>
            <a:off x="4434840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986784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Excel Reports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189220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77" name="Shape 75"/>
          <p:cNvSpPr/>
          <p:nvPr/>
        </p:nvSpPr>
        <p:spPr>
          <a:xfrm>
            <a:off x="5678424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78424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🌐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230368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Multi-LOB Coverage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432804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81" name="Shape 79"/>
          <p:cNvSpPr/>
          <p:nvPr/>
        </p:nvSpPr>
        <p:spPr>
          <a:xfrm>
            <a:off x="6922008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22008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🏆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473952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Maturity Tracking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676388" y="4645152"/>
            <a:ext cx="9144" cy="31546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85" name="Shape 83"/>
          <p:cNvSpPr/>
          <p:nvPr/>
        </p:nvSpPr>
        <p:spPr>
          <a:xfrm>
            <a:off x="8165592" y="4626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65592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717536" y="49011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74151"/>
                </a:solidFill>
              </a:rPr>
              <a:t>Repeatable Every Cycle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2026-08-07T16:46:12Z</dcterms:created>
  <dcterms:modified xsi:type="dcterms:W3CDTF">2026-08-07T16:46:12Z</dcterms:modified>
</cp:coreProperties>
</file>